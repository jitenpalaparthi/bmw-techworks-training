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• GitOps Continuous Delivery for Kubernetes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95560" y="65288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960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76656" y="18470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 • Why it matters • How it works • Architecture • Hands-on workflow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119872" y="1051560"/>
            <a:ext cx="2971800" cy="288036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4108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540496" y="1847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State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208008" y="23317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531352" y="3273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37667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GitOps CD for Kubernetes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5897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/ Architecture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basic idea to production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29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563624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56362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5636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Argo CD?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450592"/>
            <a:ext cx="5029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596896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" y="2596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81912" y="25968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GitOps / why Argo CD?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85800" y="3483864"/>
            <a:ext cx="5029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3630168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363016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81912" y="36301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workflow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4517136"/>
            <a:ext cx="5029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466344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46634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81912" y="46634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&amp; components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309360" y="1417320"/>
            <a:ext cx="5029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1563624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156362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15636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 &amp; first application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309360" y="2450592"/>
            <a:ext cx="5029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2596896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73952" y="259689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5968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Sync, drift, rollback &amp; automation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309360" y="3483864"/>
            <a:ext cx="5029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3630168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73952" y="363016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36301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patterns &amp; best practices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Argo CD?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Kubernetes-native continuous delivery controller built around GitOps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48006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continuously compares: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11480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state stored in Git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state running in Kubernetes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reports differences (drift)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synchronize the cluster back to Git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provides UI, CLI, API, health and history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97880" y="1572768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08192" y="175564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state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882128" y="18288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⇄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8641080" y="1572768"/>
            <a:ext cx="2240280" cy="109728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06256" y="1755648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89320" y="3218688"/>
            <a:ext cx="4846320" cy="749808"/>
          </a:xfrm>
          <a:prstGeom prst="roundRect">
            <a:avLst>
              <a:gd name="adj" fmla="val 14634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33649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= Reconciliation + Visibility + Controlled Deployment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440740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CI usually builds/tests images. Argo CD focuses on CD — applying declared state to Kubernetes.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do we need Argo CD?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is not “kubectl works”; the problem is operating change safely at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642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184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deployments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122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commands, human errors, undocumented changes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9048" y="1481328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642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16184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67728" y="21122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changes no longer match what Git says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273552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4564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1071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04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answer who changed what, when and why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099048" y="3273552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4564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341071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3904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Reconstructing previous state can be slow and risky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188720" y="5358384"/>
            <a:ext cx="9738360" cy="65836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53312" y="54864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turns Git into the operational source of truth.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GitOps mental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stores intent. A controller continuously reconciles reality toward that intent.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029968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1737360"/>
            <a:ext cx="512064" cy="420624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61288" y="173736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31343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76148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app/config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50008" y="2496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34640" y="2029968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1737360"/>
            <a:ext cx="512064" cy="420624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173736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31343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276148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+ merge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496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66360" y="2029968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1737360"/>
            <a:ext cx="512064" cy="420624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173736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231343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276148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desired state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2496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498080" y="2029968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1737360"/>
            <a:ext cx="512064" cy="420624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56448" y="173736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62672" y="231343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662672" y="276148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resources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45168" y="2496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829800" y="2029968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88168" y="1737360"/>
            <a:ext cx="512064" cy="420624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88168" y="173736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994392" y="231343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994392" y="276148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+ sync status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" y="4315968"/>
            <a:ext cx="1828800" cy="530352"/>
          </a:xfrm>
          <a:prstGeom prst="roundRect">
            <a:avLst>
              <a:gd name="adj" fmla="val 2069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" y="441655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model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2926080" y="4370832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runs inside/near Kubernetes and pulls desired state; CI does not need broad cluster credentials.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691640" y="5321808"/>
            <a:ext cx="8686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874520" y="546811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reproducible, reviewable and auditable delivery.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Argo CD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components cooperate to fetch, compare, reconcile and expose state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7393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repo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51176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62432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repo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4747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source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0440" y="1353312"/>
            <a:ext cx="4315968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15179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CONTROL PLANE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886200" y="2029968"/>
            <a:ext cx="3584448" cy="594360"/>
          </a:xfrm>
          <a:prstGeom prst="roundRect">
            <a:avLst>
              <a:gd name="adj" fmla="val 1846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50792" y="21031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Server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0848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/ CLI / API / auth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2816352"/>
            <a:ext cx="3584448" cy="594360"/>
          </a:xfrm>
          <a:prstGeom prst="roundRect">
            <a:avLst>
              <a:gd name="adj" fmla="val 1846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50792" y="28895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Server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8712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+ render manifests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86200" y="3602736"/>
            <a:ext cx="3584448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50792" y="36758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Controller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6576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+ reconcile + health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86200" y="4389120"/>
            <a:ext cx="3584448" cy="594360"/>
          </a:xfrm>
          <a:prstGeom prst="roundRect">
            <a:avLst>
              <a:gd name="adj" fmla="val 184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50792" y="446227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/ cache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444398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/ state cache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887968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23960" y="1965960"/>
            <a:ext cx="2377440" cy="1700784"/>
          </a:xfrm>
          <a:prstGeom prst="roundRect">
            <a:avLst>
              <a:gd name="adj" fmla="val 6452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79992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API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2679192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ConfigMaps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823960" y="4242816"/>
            <a:ext cx="2377440" cy="932688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15984" y="44074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state / health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4754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flows back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798064" y="26060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7973568" y="26060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7973568" y="45262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components — what each one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10972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47218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argocd-server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4721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Northbound interface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42432" y="1399032"/>
            <a:ext cx="5440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Serves Web UI, API and CLI; handles auth/RBAC-facing requests.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258568"/>
            <a:ext cx="10972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4048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repo-server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404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generation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42432" y="2331720"/>
            <a:ext cx="5440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Clones/fetches sources and renders YAML from plain manifests, Helm, Kustomize, etc.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191256"/>
            <a:ext cx="10972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33375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application-controller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337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 engine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742432" y="3264408"/>
            <a:ext cx="5440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Watches Applications, compares desired vs live state, performs sync and health assessment.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2702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/ AppProject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270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CRDs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4197096"/>
            <a:ext cx="5440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 applications, source/destination, policies, boundaries and permissions.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056632"/>
            <a:ext cx="10972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20293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ApplicationSet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52029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automation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742432" y="5129784"/>
            <a:ext cx="5440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many Application resources from clusters, Git directories/files, lists, PRs, and more.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The Argo CD Application resource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central object that maps a source to a destination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989320" cy="475488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444752"/>
            <a:ext cx="5660136" cy="451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apiVersion: argoproj.io/v1alpha1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kind: Application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metadata: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name: payments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namespace: argocd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spec: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project: default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source: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repoURL: https://github.com/acme/platform-gitops.git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targetRevision: main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path: apps/payments/overlays/prod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destination: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server: https://kubernetes.default.svc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namespace: payments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syncPolicy: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automated: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prune: true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selfHeal: true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86600" y="1627632"/>
            <a:ext cx="40690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746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066544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desired manifests come from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86600" y="2889504"/>
            <a:ext cx="40690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30083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328416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cluster + namespace receives them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4151376"/>
            <a:ext cx="40690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4270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syncPolicy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590288"/>
            <a:ext cx="3456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sync is manual or automated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happens after a Git commit?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works as a control loop, not a one-time deployment 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609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manifest/image tag updated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7408" y="144475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0020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1609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184648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fetches source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6448" y="144475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0020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00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33688" y="1609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933688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vs live state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50215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65760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657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apply/delete resources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407408" y="350215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65760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3657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84648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184648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+ status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56448" y="3502152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65760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657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33688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933688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continuously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5596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Install Argo CD — minimal lab setup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Prerequisite: a Kubernetes cluster and kubectl access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371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namespace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94760" y="1298448"/>
            <a:ext cx="7498080" cy="82296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59352" y="1417320"/>
            <a:ext cx="7168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kubectl create namespace argocd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334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542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manifests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94760" y="2468880"/>
            <a:ext cx="7498080" cy="82296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9352" y="2587752"/>
            <a:ext cx="7168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kubectl apply -n argocd --server-side --force-conflicts \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-f https://raw.githubusercontent.com/argoproj/argo-cd/stable/manifests/install.yaml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039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124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locally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94760" y="3639312"/>
            <a:ext cx="7498080" cy="82296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3758184"/>
            <a:ext cx="7168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kubectl port-forward svc/argocd-server -n argocd 8080:443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74336"/>
            <a:ext cx="457200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974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8828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CLI (macOS)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94760" y="4809744"/>
            <a:ext cx="7498080" cy="82296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59352" y="4928616"/>
            <a:ext cx="7168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brew install argocd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production, pin a specific Argo CD version and expose the server through your organization’s ingress / identity design.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Create and sync your first application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CLI-driven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903720" cy="4343400"/>
          </a:xfrm>
          <a:prstGeom prst="roundRect">
            <a:avLst>
              <a:gd name="adj" fmla="val 252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90472"/>
            <a:ext cx="6574536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argocd login localhost:8080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argocd app create guestbook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--repo https://github.com/argoproj/argocd-example-apps.git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--path guestbook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--dest-server https://kubernetes.default.svc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--dest-namespace default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argocd app get guestbook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argocd app sync guestbook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92440" y="1508760"/>
            <a:ext cx="3154680" cy="877824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02752" y="16642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SYNC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302752" y="199339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≠ cluster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sync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92440" y="3273552"/>
            <a:ext cx="3154680" cy="877824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342900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SYNCED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3758184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= cluster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2440" y="4736592"/>
            <a:ext cx="3154680" cy="877824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2752" y="489204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5221224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are operating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Manual sync vs automated sync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control based on environment and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4983480" cy="36576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sync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2514600"/>
            <a:ext cx="393192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detects drift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person/API triggers sync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approvals / controlled production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operational friction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81328"/>
            <a:ext cx="4983480" cy="36576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7373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sync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903720" y="2514600"/>
            <a:ext cx="393192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detects and syncs automatically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selfHeal can repair live drift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prune can delete removed resources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 for mature GitOps workflows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5468112"/>
            <a:ext cx="9921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559612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question: “Who is allowed to change production?” becomes “Who is allowed to merge the production Git change?”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Drift, self-heal and rollback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operational capabilities that make GitOps valuable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501091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detection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579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Someone changes the cluster directly → Argo shows OutOfSync.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9048" y="1444752"/>
            <a:ext cx="501091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16276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Self-heal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21579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automated self-heal, Argo can restore live state to the Git declaration.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364992"/>
            <a:ext cx="501091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478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7822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reverting Git to the known-good declaration; Argo then reconciles back.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9048" y="3364992"/>
            <a:ext cx="501091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35478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Pruning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407822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resource is removed from Git, prune can remove it from the cluster.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56692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history becomes deployment history — but application/database rollback still needs domain-aware design.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Multi-cluster / multi-environment with ApplicationSet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many Argo CD Applications from a repeatable template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ApplicationSet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+ generator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94760" y="1234440"/>
            <a:ext cx="3017520" cy="1874520"/>
          </a:xfrm>
          <a:prstGeom prst="roundRect">
            <a:avLst>
              <a:gd name="adj" fmla="val 5854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Applications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251960" y="1938528"/>
            <a:ext cx="2084832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195681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payments-dev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2304288"/>
            <a:ext cx="2084832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23225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payments-staging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2670048"/>
            <a:ext cx="2084832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268833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payments-prod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67728" y="1938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955280" y="1298448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1312" y="157276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cluster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955280" y="2761488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11312" y="303580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cluster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955280" y="4224528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11312" y="449884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 cluster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65099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Generators can derive apps from cluster registrations, Git directories/files, lists, pull requests, and more.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Production architecture pattern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CI from CD; treat Git as the contract between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578608" cy="1325880"/>
          </a:xfrm>
          <a:prstGeom prst="roundRect">
            <a:avLst>
              <a:gd name="adj" fmla="val 827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5270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Pipeline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7510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• test • scan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image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3950208" y="132588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24528" y="15270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Registry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224528" y="197510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image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app:v1.8.3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941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tag / digest update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1243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839712" y="1965960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2176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GitOps Repo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5786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Helm/Kustomize/YAML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values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0195560" y="1828800"/>
            <a:ext cx="1325880" cy="1600200"/>
          </a:xfrm>
          <a:prstGeom prst="roundRect">
            <a:avLst>
              <a:gd name="adj" fmla="val 827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0" y="20574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0387584" y="2523744"/>
            <a:ext cx="941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625328" y="3538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729984" y="4224528"/>
            <a:ext cx="1371600" cy="877824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48856" y="438912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47000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K8s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02752" y="4224528"/>
            <a:ext cx="1371600" cy="877824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21624" y="438912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421624" y="47000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K8s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875520" y="4224528"/>
            <a:ext cx="1371600" cy="877824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94392" y="438912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994392" y="470001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K8s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33375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" y="35478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controls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69264" y="3968496"/>
            <a:ext cx="4572000" cy="1207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reviews / protected branches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 + RBAC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AppProjects for source/destination boundaries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via external secret solution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Metrics, notifications and audit logs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versions; test upgrades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Recommended best practices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production checklist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481328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3533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1673352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desired state declarative; use PR reviews and protected branches.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9048" y="1234440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81328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48856" y="13533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48856" y="1673352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SSO/RBAC; restrict projects, destinations and repositories.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2404872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26517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2843784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store plaintext secrets in Git; use an appropriate secrets workflow.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9048" y="2404872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6517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2843784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automated sync deliberately; understand prune and selfHeal before enabling.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3575304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382219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44168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344168" y="4014216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base vs environment overlays; standardize repository conventions.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99048" y="3575304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82219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48856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848856" y="4014216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Argo CD health, controller errors, sync failures and notifications.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" y="4745736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4992624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8952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344168" y="4864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1344168" y="5184648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ApplicationSet for fleet patterns; avoid copy/paste Applications.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99048" y="4745736"/>
            <a:ext cx="50292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4992624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636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48856" y="4864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control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6848856" y="5184648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Argo CD versions and validate upgrades in non-production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 CI/CD without GitOps vs CI + Argo CD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architectural shift is who has cluster credentials and where deployment intent lives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2402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44475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409651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16352" y="1444752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push CD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39712" y="1371600"/>
            <a:ext cx="48006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12864" y="1444752"/>
            <a:ext cx="4654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/ pull GitOps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2240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4767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trigger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874520"/>
            <a:ext cx="409651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947672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pipeline pushes to cluster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39712" y="1874520"/>
            <a:ext cx="4800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1152" y="194767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change is reconciled by Argo CD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532888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60604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credentials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2532888"/>
            <a:ext cx="4096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2606040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held by CI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39712" y="2532888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260604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Primarily held by Argo CD in cluster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191256"/>
            <a:ext cx="2240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2644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 truth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0" y="3191256"/>
            <a:ext cx="409651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34640" y="3264408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+ scripts + cluster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39712" y="3191256"/>
            <a:ext cx="4800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31152" y="3264408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desired state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849624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22776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detection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3849624"/>
            <a:ext cx="4096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34640" y="3922776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separate/manual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39712" y="3849624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31152" y="392277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into reconciliation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4507992"/>
            <a:ext cx="2240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458114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0" y="4507992"/>
            <a:ext cx="409651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34640" y="4581144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Pipeline/script dependent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39712" y="4507992"/>
            <a:ext cx="4800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31152" y="458114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revert + reconciliation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5166360"/>
            <a:ext cx="2240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523951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0" y="5166360"/>
            <a:ext cx="4096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34640" y="5239512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Varies by CI platform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839712" y="516636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31152" y="523951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tree, sync + health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 Hands-on lab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955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60–90 minute workshop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5010912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481328"/>
            <a:ext cx="804672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48132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453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Argo CD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9280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namespace, install manifests, access UI/CLI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9048" y="1298448"/>
            <a:ext cx="5010912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481328"/>
            <a:ext cx="804672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0216" y="148132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453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an app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189280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Application from Git and sync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5010912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017520"/>
            <a:ext cx="804672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30175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9900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drift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42900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kubectl edit a Deployment and observe OutOfSync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9048" y="2834640"/>
            <a:ext cx="5010912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3017520"/>
            <a:ext cx="804672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0216" y="30175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29900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self-heal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87768" y="342900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on automated sync and repair drift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370832"/>
            <a:ext cx="5010912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553712"/>
            <a:ext cx="804672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55371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4526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Git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783080" y="49651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image tag/replicas and watch reconciliation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99048" y="4370832"/>
            <a:ext cx="5010912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0216" y="4553712"/>
            <a:ext cx="804672" cy="384048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0216" y="455371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287768" y="4526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49651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Revert Git commit and verify cluster returns to previous state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412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 CD in one sentence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34440" y="1783080"/>
            <a:ext cx="973836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81328" y="196596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AE6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“Declare Kubernetes state in Git, then continuously reconcile the cluster to that state.”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4381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350008" y="3410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Kubernetes-native GitOps continuous delivery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36208" y="34381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36408" y="3410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Repeatability, auditability, drift detection, safer operations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700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46725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→ compare → sync → health → reconcile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4700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36408" y="46725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server + repo server + application controller + CRDs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606247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run the hands-on lab and intentionally create drift.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Argo CD — What, Why, How &amp; Architecture</dc:title>
  <dc:subject>Argo CD training presentation</dc:subject>
  <dc:creator>OpenAI</dc:creator>
  <cp:lastModifiedBy>OpenAI</cp:lastModifiedBy>
  <cp:revision>1</cp:revision>
  <dcterms:created xsi:type="dcterms:W3CDTF">2026-09-15T07:28:51Z</dcterms:created>
  <dcterms:modified xsi:type="dcterms:W3CDTF">2026-09-15T07:28:51Z</dcterms:modified>
</cp:coreProperties>
</file>