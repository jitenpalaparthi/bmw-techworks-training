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29260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731520"/>
            <a:ext cx="292608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731520"/>
            <a:ext cx="292608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0" y="731520"/>
            <a:ext cx="292608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Kubernetes Storage</a:t>
            </a:r>
            <a:br/>
            <a:r>
              <a:t>with OpenEBS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BD5E1"/>
                </a:solidFill>
              </a:defRPr>
            </a:pPr>
            <a:r>
              <a:t>Volumes • PV • PVC • StorageClass • CSI • Local &amp; Replicated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Training / Architecture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From Pod-level ephemeral storage to production-grade persistent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35607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Kubernetes storage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103327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Volumes, lifecycle, data persistence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58568"/>
            <a:ext cx="106070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258568"/>
            <a:ext cx="73152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68296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PV / PVC / StorageClass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61487"/>
            <a:ext cx="103327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Static vs dynamic provisioning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91256"/>
            <a:ext cx="106070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191256"/>
            <a:ext cx="73152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300984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3. Storage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694176"/>
            <a:ext cx="103327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Local, network, cloud, distributed &amp; CSI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06070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23944"/>
            <a:ext cx="73152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233672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4. OpenEBS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626864"/>
            <a:ext cx="103327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LocalPV and Replicated PV Mayastor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056632"/>
            <a:ext cx="10607040" cy="71323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056632"/>
            <a:ext cx="73152" cy="7132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5166360"/>
            <a:ext cx="1033271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5. Selection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559552"/>
            <a:ext cx="103327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cases, benefits, trade-offs and decision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Why Kubernetes storage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Containers are ephemeral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container filesystem disappears when the container is replaced. A Pod can also be rescheduled to another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Stateful workloads need continuity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2880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Databases, queues, registries, monitoring systems and uploaded files need durable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Kubernetes needs an abstraction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82880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Applications should request storage without hard-coding vendor-specific disk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192024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023360"/>
            <a:ext cx="192024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224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PVC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192024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24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023360"/>
            <a:ext cx="1920240" cy="777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22452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Storage backend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4407408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4407408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21040" y="4407408"/>
            <a:ext cx="6858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Kubernetes volume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Not every volume type is a PV/PVC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747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4297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Pod-scoped / ephemeral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28800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• emptyDir</a:t>
            </a:r>
            <a:br/>
            <a:r>
              <a:t>• configMap</a:t>
            </a:r>
            <a:br/>
            <a:r>
              <a:t>• secret</a:t>
            </a:r>
            <a:br/>
            <a:r>
              <a:t>• projected</a:t>
            </a:r>
            <a:br/>
            <a:r>
              <a:t>• downwardAPI</a:t>
            </a:r>
            <a:br/>
            <a:r>
              <a:t>• CSI ephemeral volumes</a:t>
            </a:r>
            <a:br/>
            <a:br/>
            <a:r>
              <a:t>Lifecycle is tied to Pod or external source; these are generally not PV/PVC storage backends.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435607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Persistent via PV/PVC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828800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• CSI</a:t>
            </a:r>
            <a:br/>
            <a:r>
              <a:t>• NFS</a:t>
            </a:r>
            <a:br/>
            <a:r>
              <a:t>• iSCSI</a:t>
            </a:r>
            <a:br/>
            <a:r>
              <a:t>• Fibre Channel</a:t>
            </a:r>
            <a:br/>
            <a:r>
              <a:t>• local</a:t>
            </a:r>
            <a:br/>
            <a:r>
              <a:t>• hostPath (testing)</a:t>
            </a:r>
            <a:br/>
            <a:br/>
            <a:r>
              <a:t>PV lifecycle is independent of an individual Pod.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47472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435607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Vendor / platform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828800"/>
            <a:ext cx="320040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Usually exposed through CSI: cloud block/file storage, Ceph, Longhorn, OpenEBS, Portworx, vSphere storage, storage arrays,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PV, PVC and StorageClass — the core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10424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PersistentVolume (PV)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10424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Cluster storage resource. Created statically or dynamically. Has capacity, access modes, reclaim policy and backend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52928"/>
            <a:ext cx="10424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PersistentVolumeClaim (PVC)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46120"/>
            <a:ext cx="10424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Application request for storage: size, access mode and storageClassName.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1069848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270248"/>
            <a:ext cx="104241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StorageClass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663440"/>
            <a:ext cx="10424159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Defines how dynamic volumes are provisioned: provisioner, parameters, reclaim policy, binding mode and expansion policy.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Static vs dynamic provisioning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42976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Static 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Administrator creates the PV first.</a:t>
            </a:r>
            <a:br/>
            <a:br/>
            <a:r>
              <a:t>PVC finds and binds to a matching PV.</a:t>
            </a:r>
            <a:br/>
            <a:br/>
            <a:r>
              <a:t>Best when storage is pre-created or tightly controlled.</a:t>
            </a:r>
            <a:br/>
            <a:br/>
            <a:r>
              <a:t>Flow: Admin → PV → PVC →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435607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Dynamic provisioning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828800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Administrator creates a StorageClass.</a:t>
            </a:r>
            <a:br/>
            <a:br/>
            <a:r>
              <a:t>Developer creates only a PVC.</a:t>
            </a:r>
            <a:br/>
            <a:br/>
            <a:r>
              <a:t>The provisioner / CSI driver creates the backing volume and PV automatically.</a:t>
            </a:r>
            <a:br/>
            <a:br/>
            <a:r>
              <a:t>Flow: PVC → StorageClass → CSI provisioner → PV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Access modes and volume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44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3794760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Access mode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ReadWriteOnce — mounted read/write by one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Databases, block volumes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ReadOnlyMany — read-only by many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Shared reference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RWX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ReadWriteMany — read/write by many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Shared file systems, CMS uploads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RWOP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ReadWriteOncePod — one Pod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20617"/>
                          </a:solidFill>
                        </a:defRPr>
                      </a:pPr>
                      <a:r>
                        <a:t>Strict single-writer workloads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09160"/>
            <a:ext cx="51663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73152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81888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Filesystem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1208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Kubernetes formats/mounts a filesystem such as ext4 or xfs.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709160"/>
            <a:ext cx="51663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70916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481888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Block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521208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Pod receives a raw block device; useful for specialized databases/storage engines.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What a StorageClass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8988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provisioner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Which CSI/external provisioner creates the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38988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783080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Backend-specific policy: type, filesystem, replication, IOPS, encryption, etc.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9864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reclaimPolicy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91839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Delete or Retain after PVC/PV release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78892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89864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volumeBindingMode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291839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Immediate or WaitForFirstConsumer; important for topology-aware local/cloud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79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297679"/>
            <a:ext cx="73152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407407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allowVolumeExpansion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00599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Allows PVC growth when the driver supports expansion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79"/>
            <a:ext cx="51663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97679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4407407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mountOptions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4800599"/>
            <a:ext cx="4892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Optional mount flags when supported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PersistentVolume backends supported by Kubernetes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CSI is the strategic extensibility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2588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023360"/>
                <a:gridCol w="50749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Backend/plugin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represents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CSI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Any storage with a CSI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Preferred path for cloud, SAN, distributed and vendor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NFS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Network File 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Common RWX/shared filesystem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iSCSI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Block storage over 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Typically RWO/ROX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Fibre Channel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SAN block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Enterprise data centers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Node-local disk or 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Topology-bound; high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hostPath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Path on one node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Testing/single-node only; avoid for multi-node production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Storage systems you can expose through PV/PVC + StorageClass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060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Cloud block /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23317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AWS EBS / EFS</a:t>
            </a:r>
            <a:br/>
            <a:r>
              <a:t>• Azure Disk / Azure Files</a:t>
            </a:r>
            <a:br/>
            <a:r>
              <a:t>• Google Persistent Disk / Filestore</a:t>
            </a:r>
            <a:br/>
            <a:r>
              <a:t>• Other managed CSI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6060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73152" cy="4480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Distributed / SDS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828800"/>
            <a:ext cx="23317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OpenEBS</a:t>
            </a:r>
            <a:br/>
            <a:r>
              <a:t>• Ceph / Rook</a:t>
            </a:r>
            <a:br/>
            <a:r>
              <a:t>• Longhorn</a:t>
            </a:r>
            <a:br/>
            <a:r>
              <a:t>• Portworx</a:t>
            </a:r>
            <a:br/>
            <a:r>
              <a:t>• Gluster-like or vendor SDS via CSI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26060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Enterprise / on-prem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828800"/>
            <a:ext cx="23317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NetApp / Pure / Dell / HPE CSI</a:t>
            </a:r>
            <a:br/>
            <a:r>
              <a:t>• VMware vSphere CSI</a:t>
            </a:r>
            <a:br/>
            <a:r>
              <a:t>• SAN arrays via CSI / FC / iSCSI</a:t>
            </a:r>
            <a:br/>
            <a:r>
              <a:t>• NFS appliances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25880"/>
            <a:ext cx="26060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25880"/>
            <a:ext cx="73152" cy="4480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1435607"/>
            <a:ext cx="2331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828800"/>
            <a:ext cx="23317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Raw disk / partition</a:t>
            </a:r>
            <a:br/>
            <a:r>
              <a:t>• LVM logical volumes</a:t>
            </a:r>
            <a:br/>
            <a:r>
              <a:t>• ZFS datasets/zvols</a:t>
            </a:r>
            <a:br/>
            <a:r>
              <a:t>• Host directory (test)</a:t>
            </a:r>
            <a:br/>
            <a:r>
              <a:t>• NVMe / SSD attached to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CSI: the standard storage integration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37160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965960"/>
            <a:ext cx="14630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221284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1920240" cy="1051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21284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Kubernetes</a:t>
            </a:r>
            <a:br/>
            <a:r>
              <a:t>control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965960"/>
            <a:ext cx="1645920" cy="10515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212848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CSI driver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965960"/>
            <a:ext cx="1920240" cy="1051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21284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Storage</a:t>
            </a:r>
            <a:br/>
            <a:r>
              <a:t>backend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2487168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931920" y="2487168"/>
            <a:ext cx="548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2487168"/>
            <a:ext cx="7315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78240" y="2487168"/>
            <a:ext cx="7315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88620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20617"/>
                </a:solidFill>
              </a:defRPr>
            </a:pPr>
            <a:r>
              <a:t>Standard interface between Kubernetes and storage vendors</a:t>
            </a:r>
          </a:p>
          <a:p>
            <a:pPr>
              <a:spcAft>
                <a:spcPts val="800"/>
              </a:spcAft>
              <a:defRPr sz="1700">
                <a:solidFill>
                  <a:srgbClr val="020617"/>
                </a:solidFill>
              </a:defRPr>
            </a:pPr>
            <a:r>
              <a:t>Supports provisioning, attachment, mounting, snapshots, expansion and other capabilities depending on driver</a:t>
            </a:r>
          </a:p>
          <a:p>
            <a:pPr>
              <a:spcAft>
                <a:spcPts val="800"/>
              </a:spcAft>
              <a:defRPr sz="1700">
                <a:solidFill>
                  <a:srgbClr val="020617"/>
                </a:solidFill>
              </a:defRPr>
            </a:pPr>
            <a:r>
              <a:t>Lets Kubernetes evolve without embedding every storage vendor directly into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Local vs network vs distributed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560320"/>
                <a:gridCol w="2743200"/>
                <a:gridCol w="2834640"/>
              </a:tblGrid>
              <a:tr h="746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Characteristic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Local disk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Network file/block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Distributed / replicated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20617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Depends on network/storage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Moderate; replication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20617"/>
                          </a:solidFill>
                        </a:defRPr>
                      </a:pPr>
                      <a:r>
                        <a:t>Node failure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Data may be unavailable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Backend dependent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Designed for resilience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20617"/>
                          </a:solidFill>
                        </a:defRPr>
                      </a:pPr>
                      <a:r>
                        <a:t>RWX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Usually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Often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Depends on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20617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Higher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020617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Performance, caches, node-affine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Shared data, enterprise SAN/NAS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20617"/>
                          </a:solidFill>
                        </a:defRPr>
                      </a:pPr>
                      <a:r>
                        <a:t>Kubernetes-native HA stateful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What OpenEBS adds to Kubernetes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3756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Kubernetes-native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30632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OpenEBS provides storage engines and CSI integrations designed to be managed from Kubernetes.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4480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Use node-attached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28800"/>
            <a:ext cx="30632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Turn local disks, directories, LVM or ZFS capacity into dynamically provisioned Kubernetes PVs.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3756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35607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Replicated block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28800"/>
            <a:ext cx="30632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Replicated PV Mayastor can replicate data across nodes for higher availability and fault tolerance.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OpenEBS storage options (current 4.x generation)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PV Hostpath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Directory-backed local volumes; simple labs and node-local workloads.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290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PV LVM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2880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Dynamic volumes from LVM volume groups; flexible local block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290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PV ZFS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28800"/>
            <a:ext cx="3154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ZFS-backed local volumes with ZFS capabilities and management.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703320"/>
            <a:ext cx="352044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703320"/>
            <a:ext cx="73152" cy="18745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3813048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Local PV Rawfile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20624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File-backed local block volumes; useful where raw disks/LVM/ZFS are not desired.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03320"/>
            <a:ext cx="352044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703320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813048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Replicated PV Mayastor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20624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High-performance replicated block storage across nodes; suited for resilient stateful workloads.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OpenEBS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Dynamic 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PVCs can automatically create persistent volumes through StorageClasses.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Cloud-native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Storage is managed with Kubernetes resources, controllers and CSI.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73152" cy="18745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435607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Use commodity/local disks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18288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Reuse SSD/NVMe/HDD capacity already attached to worker nodes.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73152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6758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Choice of storage 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0690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Select Hostpath, LVM, ZFS, Rawfile or replicated Mayastor based on workload.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566160"/>
            <a:ext cx="73152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36758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High availability 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40690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Mayastor can maintain synchronous replicas across nodes.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66160"/>
            <a:ext cx="342900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73152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675888"/>
            <a:ext cx="3154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Policy-driven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06908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Different StorageClasses can encode performance, replication and filesystem policies.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OpenEBS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618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3716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64792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PostgreSQL, MySQL, MongoDB, etc. needing persistent RWO volumes.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618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261872"/>
            <a:ext cx="73152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716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64792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Prometheus, Loki, tracing stores and metrics backends.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9718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Messaging / 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64991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Kafka-like stateful workloads when storage semantics fit the engine.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620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862072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9718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CI/CD &amp; developer clusters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364991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Fast dynamic local volumes for build caches, test databases and ephemeral environments.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622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62272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45720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Edge / on-prem 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965192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local disks where cloud storage services are unavailable.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62272"/>
            <a:ext cx="516636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62272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457200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Mission-critical stateful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965192"/>
            <a:ext cx="48920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Use replicated Mayastor where node failure tolerance is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Critical design point: local storage is still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4480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35607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OpenEBS LocalPV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PVC is dynamically managed, but the data remains tied to the node that owns the local disk/directory/LVM/ZFS resource.</a:t>
            </a:r>
            <a:br/>
            <a:br/>
            <a:r>
              <a:t>If that node is unavailable, Kubernetes cannot magically read the same local bytes from another node.</a:t>
            </a:r>
            <a:br/>
            <a:br/>
            <a:r>
              <a:t>Use for performance, cost efficiency and workloads that tolerate node affinity.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73152" cy="4480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435607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Replicated PV Mayastor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82880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Data is synchronously replicated across multiple nodes according to the StorageClass policy.</a:t>
            </a:r>
            <a:br/>
            <a:br/>
            <a:r>
              <a:t>Provides node-failure resilience and better fit for HA stateful applications.</a:t>
            </a:r>
            <a:br/>
            <a:br/>
            <a:r>
              <a:t>Replication adds network and capacity overhead.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Example: PVC using a StorageClass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4480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0916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urier New"/>
              </a:defRPr>
            </a:pPr>
            <a:r>
              <a:t>apiVersion: v1</a:t>
            </a:r>
            <a:br/>
            <a:r>
              <a:t>kind: PersistentVolumeClaim</a:t>
            </a:r>
            <a:br/>
            <a:r>
              <a:t>metadata:</a:t>
            </a:r>
            <a:br/>
            <a:r>
              <a:t>  name: app-data</a:t>
            </a:r>
            <a:br/>
            <a:r>
              <a:t>spec:</a:t>
            </a:r>
            <a:br/>
            <a:r>
              <a:t>  accessModes:</a:t>
            </a:r>
            <a:br/>
            <a:r>
              <a:t>    - ReadWriteOnce</a:t>
            </a:r>
            <a:br/>
            <a:r>
              <a:t>  storageClassName: openebs-hostpath</a:t>
            </a:r>
            <a:br/>
            <a:r>
              <a:t>  resources:</a:t>
            </a:r>
            <a:br/>
            <a:r>
              <a:t>    requests:</a:t>
            </a:r>
            <a:br/>
            <a:r>
              <a:t>      storage: 5Gi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166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1325880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435607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Developer creates PVC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82880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claim requests 5 GiB with RWO and names a StorageClass.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43200"/>
            <a:ext cx="5166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74320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285292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Provisioner creates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324612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StorageClass provisioner dynamically creates the backend volume and PV.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160520"/>
            <a:ext cx="51663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416052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4270248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3. Pod mounts the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4663440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application refers to the PVC; Kubernetes mounts the provisioned volume.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Storage selection guide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3842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3657600"/>
                <a:gridCol w="4846320"/>
              </a:tblGrid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Need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Good starting option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Temporary scratch/cache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emptyDir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Simple Pod-scoped ephemeral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Single-node development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hostPath or OpenEBS LocalPV Hostpath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Easy local persistence; not HA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Fast node-local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OpenEBS LocalPV LVM/ZFS/local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Low latency and controlled local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Shared read/write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NFS / cloud file CSI / distributed filesystem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Supports RWX semantics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Cloud managed block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Cloud CSI (EBS/Azure Disk/PD)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Managed durability and operational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On-prem SAN/NAS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Vendor CSI, NFS, iSCSI, FC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Integrates existing enterprise storage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20617"/>
                          </a:solidFill>
                        </a:defRPr>
                      </a:pPr>
                      <a:r>
                        <a:t>Kubernetes-native replicated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OpenEBS Replicated PV Mayastor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20617"/>
                          </a:solidFill>
                        </a:defRPr>
                      </a:pPr>
                      <a:r>
                        <a:t>Cross-node replicas and failure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Architecture checklist before choosing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25272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123444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Do you need persistence after Pod restart?</a:t>
            </a:r>
          </a:p>
        </p:txBody>
      </p:sp>
      <p:sp>
        <p:nvSpPr>
          <p:cNvPr id="6" name="Oval 5"/>
          <p:cNvSpPr/>
          <p:nvPr/>
        </p:nvSpPr>
        <p:spPr>
          <a:xfrm>
            <a:off x="6172200" y="125272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23444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RWO, RWX, ROX or RWOP?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1284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19456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What are latency / IOPS / throughput requirements?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221284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19456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Can the data be tied to one node?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96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15468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What happens if a worker node fails?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317296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Do you need snapshots, clones, expansion or backups?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133087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411480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What reclaim policy is appropriate: Delete or Retain?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4133087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11480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Do you need encryption or compliance controls?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9320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507492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How much replication capacity overhead can you afford?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509320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5074920"/>
            <a:ext cx="4663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20617"/>
                </a:solidFill>
              </a:defRPr>
            </a:pPr>
            <a:r>
              <a:t>Is the CSI driver supported for your Kubernetes version/platform?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755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241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0876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618488"/>
            <a:ext cx="9966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PV is the storage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011680"/>
            <a:ext cx="9966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PVC is the application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241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807208"/>
            <a:ext cx="9966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StorageClass drives dynamic provisioning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00400"/>
            <a:ext cx="9966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CSI is the standard integration mechanism.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86200"/>
            <a:ext cx="10241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886200"/>
            <a:ext cx="73152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995928"/>
            <a:ext cx="9966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Choose storage by semantics, not popularity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389120"/>
            <a:ext cx="9966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Access mode, latency, topology and failure model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74920"/>
            <a:ext cx="1024128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07492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184648"/>
            <a:ext cx="99669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OpenEBS covers local and replicated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577840"/>
            <a:ext cx="9966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LocalPV for node-local storage; Mayastor for replicated block storage.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Reference basis: Kubernetes storage documentation and OpenEBS 4.6.x documentation (current as of Sep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