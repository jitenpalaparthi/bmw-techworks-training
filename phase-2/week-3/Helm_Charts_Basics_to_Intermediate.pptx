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502920" y="1161288"/>
            <a:ext cx="141732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32588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Helm Charts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76656" y="210312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Basics to Intermediate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85800" y="306324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Helm exists • Problems it solves • Chart anatomy • Values • Templates • Releases • Dependencies • Hooks • Best practices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4297680"/>
            <a:ext cx="3200400" cy="438912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429768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Kubernetes Package Management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5989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presentation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Kubernetes Deployment Problem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Helm becomes valuable when raw Kubernetes YAML starts repeating and drifting.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09360" y="150876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7830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Helm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41248" y="2240280"/>
            <a:ext cx="4663440" cy="3383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Many YAML files per application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Repeated configuration across environments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image tag, port, replica changes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application-level release abstraction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Upgrades and rollbacks are manual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Dependencies are managed separately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Copy-paste becomes the deployment strategy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601968" y="17830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Helm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601968" y="2240280"/>
            <a:ext cx="4663440" cy="3383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Package related resources into one chart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Parameterize environment differences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Install an application as one release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revisions and rollback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Reuse deployment conventions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Declare chart dependencies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Distribute through chart repositories or OCI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Helm?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Kubernetes package manager plus a template and release-management layer.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3337560" cy="3246120"/>
          </a:xfrm>
          <a:prstGeom prst="roundRect">
            <a:avLst>
              <a:gd name="adj" fmla="val 2254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3852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Chart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005840" y="2743200"/>
            <a:ext cx="2697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versioned package containing templates, defaults, metadata and optional dependencies.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480560" y="1691640"/>
            <a:ext cx="3337560" cy="3246120"/>
          </a:xfrm>
          <a:prstGeom prst="roundRect">
            <a:avLst>
              <a:gd name="adj" fmla="val 2254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93852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Release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4800600" y="2743200"/>
            <a:ext cx="2697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chart installed into a cluster with a release name and specific values.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75320" y="1691640"/>
            <a:ext cx="3337560" cy="3246120"/>
          </a:xfrm>
          <a:prstGeom prst="roundRect">
            <a:avLst>
              <a:gd name="adj" fmla="val 2254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58200" y="193852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Repository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8595360" y="2743200"/>
            <a:ext cx="2697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source for discovering and distributing charts; OCI registries are also supported.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05840" y="544068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Mental model: Chart ≈ package + templates     |     Release ≈ installed instance of the package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Helm Works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Helm renders manifests from a chart and values, then sends them to the Kubernetes API.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7432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helm CLI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971800" y="173736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71800" y="17373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Chart + values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971800" y="370332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71800" y="37033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 engine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0" y="274320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27432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Kubernetes API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18320" y="2743200"/>
            <a:ext cx="20574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0" y="274320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Cluster resources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331720" y="2953512"/>
            <a:ext cx="411480" cy="384048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40680" y="2953512"/>
            <a:ext cx="594360" cy="384048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32520" y="2953512"/>
            <a:ext cx="411480" cy="384048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03320" y="2697480"/>
            <a:ext cx="502920" cy="594360"/>
          </a:xfrm>
          <a:prstGeom prst="down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80160" y="55321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 metadata is stored in-cluster so Helm can track revisions and rollback.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Anatomy of a Helm Chart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4206240" cy="45262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" y="1664208"/>
            <a:ext cx="3877056" cy="4306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myapp/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├── Chart.yaml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├── values.yaml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├── charts/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├── templates/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│   ├── deployment.yaml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│   ├── service.yaml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│   ├── ingress.yaml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│   ├── _helpers.tpl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│   └── NOTES.txt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└── .helmignore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212080" y="1554480"/>
            <a:ext cx="62636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32120" y="1874520"/>
            <a:ext cx="5623560" cy="3794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Chart.yaml — chart name, version, appVersion, dependencies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values.yaml — default configuration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templates/ — parameterized Kubernetes manifests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_helpers.tpl — reusable helper templates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charts/ — packaged/downloaded dependencies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NOTES.txt — post-install usage notes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.helmignore — packaging exclusions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Your First Chart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from Helm’s generated skeleton, then simplify it to match your application.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4480560" cy="27432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847088"/>
            <a:ext cx="4151376" cy="2523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helm create myapp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cd myapp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helm lint 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helm template demo 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helm install demo 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623560" y="1737360"/>
            <a:ext cx="5532120" cy="2743200"/>
          </a:xfrm>
          <a:prstGeom prst="roundRect">
            <a:avLst>
              <a:gd name="adj" fmla="val 2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25312" y="199339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workflow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25312" y="2487168"/>
            <a:ext cx="4754880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or edit the chart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chart structure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Render manifests before applying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Install using a release name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 generated Kubernetes resources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143000" y="5029200"/>
            <a:ext cx="9875520" cy="64008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5129784"/>
            <a:ext cx="9418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Teaching tip: helm template is excellent for showing exactly what Helm will submit to Kubernetes.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Values + Templates: The Core Idea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31520" y="15087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values.yaml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4480560" cy="33832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938528"/>
            <a:ext cx="4151376" cy="3163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replicaCount: 3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image: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repository: nginx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tag: "1.27"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service: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type: ClusterIP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port: 80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0" y="15087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templates/deployment.yaml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897880" y="1828800"/>
            <a:ext cx="5486400" cy="33832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62472" y="1938528"/>
            <a:ext cx="5157216" cy="3163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spec: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replicas: {{ .Values.replicaCount }}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template: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spec: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containers: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- name: app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  image: "{{ .Values.image.repository }}:{{ .Values.image.tag }}"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562356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chart → many deployments by changing values instead of duplicating manifests.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Environment-Specific Configuration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 values files rather than maintaining forked manifest directories.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24612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3852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values.yaml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60120" y="2514600"/>
            <a:ext cx="2606040" cy="96012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4712" y="2624328"/>
            <a:ext cx="2276856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replicaCount: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resources: small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62272" y="1737360"/>
            <a:ext cx="324612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45152" y="193852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values-dev.yaml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782312" y="2514600"/>
            <a:ext cx="2606040" cy="96012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46904" y="2624328"/>
            <a:ext cx="2276856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replicaCount: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debug: true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84464" y="1737360"/>
            <a:ext cx="324612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67344" y="193852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values-prod.yaml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604504" y="2514600"/>
            <a:ext cx="2606040" cy="96012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69096" y="2624328"/>
            <a:ext cx="2276856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replicaCount: 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autoscaling: true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148840" y="4709160"/>
            <a:ext cx="7909560" cy="73152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13432" y="4818888"/>
            <a:ext cx="758037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helm upgrade --install myapp ./myapp -f values-prod.yaml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371600" y="562356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--set is useful for small overrides; files are usually easier to review and version for real environments.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 Lifecycle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Helm manages an application as a named, revisioned release.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210312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2677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276148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helm install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377440" y="2496312"/>
            <a:ext cx="320040" cy="320040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88920" y="210312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88920" y="22677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Upgrade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880360" y="276148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helm upgrade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2496312"/>
            <a:ext cx="320040" cy="320040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66360" y="210312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66360" y="22677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257800" y="276148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helm history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132320" y="2496312"/>
            <a:ext cx="320040" cy="320040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43800" y="210312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43800" y="22677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Rollback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635240" y="276148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helm rollback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509760" y="2496312"/>
            <a:ext cx="320040" cy="320040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921240" y="210312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21240" y="22677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Uninstall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012680" y="276148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helm uninstall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971800" y="4023360"/>
            <a:ext cx="6309360" cy="150876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36392" y="4133088"/>
            <a:ext cx="5980176" cy="1289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helm list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helm status myapp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helm history myapp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helm rollback myapp 2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Production-Friendly Pattern: upgrade --install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920240" y="1783080"/>
            <a:ext cx="8366760" cy="214884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84832" y="1892808"/>
            <a:ext cx="8037576" cy="1929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helm upgrade --install myapp ./myapp \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--namespace app \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--create-namespace \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-f values-prod.yaml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057400" y="4343400"/>
            <a:ext cx="813816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 absent → install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 present → upgrade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 well in CI/CD because the same command handles both states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--wait / --atomic when stronger deployment semantics are required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Intermediate Templating Concepts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31520" y="1417320"/>
            <a:ext cx="107442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52704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Built-in objects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337560" y="1527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.Values, .Release, .Chart, .Capabilities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167128"/>
            <a:ext cx="107442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276856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337560" y="2276856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default, quote, required, toYaml, include, tpl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2916936"/>
            <a:ext cx="107442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3026664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37560" y="3026664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| default "x" | quote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3666744"/>
            <a:ext cx="107442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77647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flow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37560" y="377647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if/else, with, range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" y="4416552"/>
            <a:ext cx="107442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526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Helpers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37560" y="45262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+ include in _helpers.tpl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1520" y="5166360"/>
            <a:ext cx="107442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527608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Whitespace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337560" y="527608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{{- and -}} matter in YAML templates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Helpers with _helpers.tpl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486400" cy="187452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1847088"/>
            <a:ext cx="5157216" cy="1655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{{- define "myapp.fullname" -}}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{{ printf "%s-%s" .Release.Name .Chart.Name | trunc 63 | trimSuffix "-" }}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{{- end }}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217920" y="1737360"/>
            <a:ext cx="5440680" cy="187452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82512" y="1847088"/>
            <a:ext cx="5111496" cy="1655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metadata: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name: {{ include "myapp.fullname" . }}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labels: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app.kubernetes.io/name: {{ .Chart.Name }}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app.kubernetes.io/instance: {{ .Release.Name }}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234440" y="4343400"/>
            <a:ext cx="9692640" cy="1097280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08760" y="45262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helpers matter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600200" y="4956048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Naming and labeling rules live in one place, reducing drift across templates.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Chart Dependencies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chart can declare other charts such as Redis, PostgreSQL, or shared components.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5303520" cy="22860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847088"/>
            <a:ext cx="4974336" cy="2066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dependencies: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- name: redis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version: 20.x.x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repository: https://charts.bitnami.com/bitnami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condition: redis.enabled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0" y="1737360"/>
            <a:ext cx="4663440" cy="13258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65392" y="1847088"/>
            <a:ext cx="4334256" cy="11064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helm dependency update ./myapp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helm dependency build ./myapp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88720" y="4343400"/>
            <a:ext cx="996696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Dependencies are versioned and locked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Conditions/tags can make subcharts optional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Dependency values are usually nested under the dependency name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Subcharts introduce ownership and upgrade coupling—design them carefully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Helm Hooks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Hooks run resources at specific release lifecycle points.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1737360"/>
            <a:ext cx="10652760" cy="1005840"/>
          </a:xfrm>
          <a:prstGeom prst="roundRect">
            <a:avLst>
              <a:gd name="adj" fmla="val 7273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01168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uses: DB migration Job • pre-install validation • post-install bootstrap • chart tests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194560" y="3246120"/>
            <a:ext cx="7818120" cy="169164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59152" y="3355848"/>
            <a:ext cx="7488936" cy="1472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metadata: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annotations: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"helm.sh/hook": pre-upgrade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"helm.sh/hook-weight": "0"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"helm.sh/hook-delete-policy": before-hook-creation,hook-succeeded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737360" y="55778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hooks sparingly: side effects make upgrades harder to reason about.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Sharing and Distributing Charts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164592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385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Classic chart repository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05840" y="2606040"/>
            <a:ext cx="4572000" cy="2011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2715768"/>
            <a:ext cx="4242816" cy="1792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helm repo add bitnami https://charts.bitnami.com/bitnami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helm repo update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helm search repo nginx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helm install web bitnami/nginx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37960" y="193852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OCI registry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583680" y="2606040"/>
            <a:ext cx="4572000" cy="2011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48272" y="2715768"/>
            <a:ext cx="4242816" cy="1792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helm package ./myapp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helm push myapp-1.0.0.tgz oci://registry.example.com/charts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helm install myapp oci://registry.example.com/charts/myapp --version 1.0.0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Before You Deploy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105613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" y="17007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helm lint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977640" y="170078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Chart structure + common problems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377440"/>
            <a:ext cx="105613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252374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helm template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977640" y="252374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Render manifests locally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3200400"/>
            <a:ext cx="105613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33467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helm install --dry-run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977640" y="334670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Render with release context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4023360"/>
            <a:ext cx="105613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41696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kubectl diff / policy tools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977640" y="416966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or enforce cluster rules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2960" y="4846320"/>
            <a:ext cx="105613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8992" y="49926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helm test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977640" y="499262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chart-defined test hooks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Intermediate Best Practices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10515600" cy="4800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charts focused on one deployable app or coherent platform component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Put environment differences in values rather than forked templates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semantic chart versions; keep appVersion separate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sensible defaults and document important values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standard Kubernetes labels and shared helper templates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Never commit plaintext secrets in values files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Pin dependencies and inspect rendered manifests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 upgrade --install in CI/CD; consider --wait and --atomic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rollback behavior and database migration semantics explicitly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Helm Mistakes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10744200" cy="594360"/>
          </a:xfrm>
          <a:prstGeom prst="roundRect">
            <a:avLst>
              <a:gd name="adj" fmla="val 12308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49961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Huge values.yaml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566160" y="149961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 many unrelated knobs make a chart impossible to understand.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130552"/>
            <a:ext cx="10744200" cy="594360"/>
          </a:xfrm>
          <a:prstGeom prst="roundRect">
            <a:avLst>
              <a:gd name="adj" fmla="val 12308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2585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 programming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566160" y="225856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Complex business logic in Go templates becomes fragile.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2889504"/>
            <a:ext cx="10744200" cy="594360"/>
          </a:xfrm>
          <a:prstGeom prst="roundRect">
            <a:avLst>
              <a:gd name="adj" fmla="val 12308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30175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Secret leakage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66160" y="301752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Secrets in Git or CLI history are a security risk.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3648456"/>
            <a:ext cx="10744200" cy="594360"/>
          </a:xfrm>
          <a:prstGeom prst="roundRect">
            <a:avLst>
              <a:gd name="adj" fmla="val 12308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7764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Copy-pasted helpers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66160" y="377647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Naming and labels drift across resources.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4407408"/>
            <a:ext cx="10744200" cy="594360"/>
          </a:xfrm>
          <a:prstGeom prst="roundRect">
            <a:avLst>
              <a:gd name="adj" fmla="val 12308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53542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Blind upgrades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566160" y="453542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Dependencies, CRDs, hooks and stateful workloads need planning.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31520" y="5166360"/>
            <a:ext cx="10744200" cy="594360"/>
          </a:xfrm>
          <a:prstGeom prst="roundRect">
            <a:avLst>
              <a:gd name="adj" fmla="val 12308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529437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Chart version = app version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566160" y="529437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Packaging version and application version are different concepts.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Helm Is Most Useful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107442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49961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Microservices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566160" y="149961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Standardize Deployment, Service, Ingress, HPA, probes and labels.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130552"/>
            <a:ext cx="107442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2585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566160" y="225856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Bundle observability, ingress, storage, databases and shared services.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2889504"/>
            <a:ext cx="107442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30175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CI/CD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66160" y="301752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Repeatable releases with controlled configuration and rollback history.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3648456"/>
            <a:ext cx="107442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7764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Multi-environment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66160" y="377647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Reuse one chart across dev, QA, staging and production.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4407408"/>
            <a:ext cx="107442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53542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Third-party software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566160" y="453542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Install packaged systems such as monitoring stacks or controllers.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31520" y="5166360"/>
            <a:ext cx="107442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529437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golden paths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566160" y="529437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teams publish approved deployment conventions.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Helm May Not Be Necessary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31520" y="1737360"/>
            <a:ext cx="5166360" cy="4023360"/>
          </a:xfrm>
          <a:prstGeom prst="roundRect">
            <a:avLst>
              <a:gd name="adj" fmla="val 1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09360" y="1737360"/>
            <a:ext cx="5166360" cy="4023360"/>
          </a:xfrm>
          <a:prstGeom prst="roundRect">
            <a:avLst>
              <a:gd name="adj" fmla="val 1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0574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Plain YAML / Kustomize may be enough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43000" y="2788920"/>
            <a:ext cx="4160520" cy="2103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Very small deployments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Minimal parameterization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mainly need overlays or patches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release packaging requirement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537960" y="20574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Helm is a strong fit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720840" y="2788920"/>
            <a:ext cx="4160520" cy="2103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application packages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Many configurable deployments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Dependencies and distribution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Versioned release lifecycle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Platform-standard deployment patterns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Suggested 45–60 Minute Live Demo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77240" y="132588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325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417320" y="138074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 nginx with plain YAML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1901952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019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1956816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chart and move Deployment/Service into templates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24780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4780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17320" y="253288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Parameterize image, replicas and service port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77240" y="305409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0540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17320" y="310896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Install dev and prod releases with different values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77240" y="363016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6301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17320" y="368503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image tag and run helm upgrade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77240" y="420624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206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17320" y="426110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helm history and rollback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77240" y="4782312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7823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17320" y="4837176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Render with helm template and intentionally break a value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77240" y="535838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53583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417320" y="541324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Optionally add a dependency or hook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Helm Command Cheat Sheet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2423160" y="1325880"/>
            <a:ext cx="7406640" cy="516636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87752" y="1435608"/>
            <a:ext cx="7077456" cy="4946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helm create myapp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helm lint ./myapp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helm template demo ./myapp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helm install demo ./myapp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helm upgrade demo ./myapp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helm upgrade --install demo ./myapp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helm list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helm status demo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helm history demo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helm rollback demo 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helm uninstall demo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helm dependency update ./myapp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helm package ./myapp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Helm in One Slide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508760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111C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6733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0A5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Package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651760" y="16459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Charts bundle related Kubernetes resources.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508760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111C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46520" y="16733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0A5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Parameterize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046720" y="16459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Values make one package reusable.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2743200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111C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9077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0A5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651760" y="28803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Installations are named and revisioned.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2743200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111C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29077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0A5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046720" y="28803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Upgrade, inspect, test and rollback.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2960" y="3977640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111C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41422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0A5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651760" y="41148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 through repositories or OCI.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17920" y="3977640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111C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41422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0A5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Standardize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046720" y="41148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Encode deployment conventions once.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60120" y="566928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takeaway: Helm does not replace Kubernetes manifests—it makes them reusable, configurable, versioned, distributable and operationally manageable.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Helm Charts: Basics to Intermediate</dc:title>
  <dc:subject>Helm Charts from Basics to Intermediate</dc:subject>
  <dc:creator>OpenAI</dc:creator>
  <cp:lastModifiedBy>OpenAI</cp:lastModifiedBy>
  <cp:revision>1</cp:revision>
  <dcterms:created xsi:type="dcterms:W3CDTF">2026-09-07T05:48:19Z</dcterms:created>
  <dcterms:modified xsi:type="dcterms:W3CDTF">2026-09-07T05:48:19Z</dcterms:modified>
</cp:coreProperties>
</file>