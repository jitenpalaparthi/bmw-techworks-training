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Foundations • Simple Math to GPT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8408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Jiten Palaparthi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</a:rPr>
              <a:t>HOW MODELS 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241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Maths → Vectors → Matrices → GPT &amp; LLMs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A trainer-ready visual explanation of how numbers become language understanding and next-token prediction.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From arithmetic intuition to attention equations—with tiny worked examples.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Jiten Palaparthi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build the mental model layer by layer.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74920" cy="80467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481328"/>
            <a:ext cx="475488" cy="475488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6192" y="15453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Numbers &amp; weighted sums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074920" cy="80467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148132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5636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59752" y="15453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Vectors &amp; similarity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5074920" cy="80467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596896"/>
            <a:ext cx="475488" cy="475488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6791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36192" y="2660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Matrices as transformations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5080" y="2441448"/>
            <a:ext cx="5074920" cy="80467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259689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6791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59752" y="2660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Neural networks &amp;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3557016"/>
            <a:ext cx="5074920" cy="8046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3712464"/>
            <a:ext cx="475488" cy="475488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947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36192" y="3776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Tokens &amp; embeddings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55080" y="3557016"/>
            <a:ext cx="5074920" cy="8046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371246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7947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59752" y="3776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Attention &amp; masking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31520" y="4672584"/>
            <a:ext cx="5074920" cy="8046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4828032"/>
            <a:ext cx="475488" cy="475488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9103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36192" y="4892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Transformer blocks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355080" y="4672584"/>
            <a:ext cx="5074920" cy="80467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482803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49103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59752" y="4892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GPT next-token generation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Start with the simplest “model”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is a rule that maps inputs to an output.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26464"/>
            <a:ext cx="73152" cy="1216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08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901952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x = hours studied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4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26464"/>
            <a:ext cx="73152" cy="121615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508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0328" y="1901952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y = 10x + 20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0" y="13716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400000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32520" y="1426464"/>
            <a:ext cx="73152" cy="1216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7968" y="1508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87968" y="1901952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x = 3 → y = 50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66160" y="2029968"/>
            <a:ext cx="1051560" cy="0"/>
          </a:xfrm>
          <a:prstGeom prst="line">
            <a:avLst/>
          </a:prstGeom>
          <a:noFill/>
          <a:ln w="2794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43800" y="2029968"/>
            <a:ext cx="1051560" cy="0"/>
          </a:xfrm>
          <a:prstGeom prst="line">
            <a:avLst/>
          </a:prstGeom>
          <a:noFill/>
          <a:ln w="2794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148840" y="3246120"/>
            <a:ext cx="790956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3355848"/>
            <a:ext cx="7763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= weight × input + bias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20240" y="4160520"/>
            <a:ext cx="832104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weight controls how strongly the input matters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bias shifts the baseline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learning means finding useful weights and biases from 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Multiple inputs become a weighted sum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basic arithmetic inside a neuron.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Suppose a model uses three features: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15179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x = inputs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82296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5623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2377440"/>
            <a:ext cx="82296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0487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5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926080"/>
            <a:ext cx="82296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5351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0" y="15179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w = weights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1828800"/>
            <a:ext cx="1005840" cy="548640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8562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0.5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743200" y="2377440"/>
            <a:ext cx="1005840" cy="548640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40487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1.0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743200" y="2926080"/>
            <a:ext cx="1005840" cy="548640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95351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-2.0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5563"/>
                </a:solidFill>
              </a:rPr>
              <a:t>Dot product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0480" y="2606040"/>
            <a:ext cx="1737360" cy="0"/>
          </a:xfrm>
          <a:prstGeom prst="line">
            <a:avLst/>
          </a:prstGeom>
          <a:noFill/>
          <a:ln w="2794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15000" y="1965960"/>
            <a:ext cx="525780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88152" y="2075688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2×0.5 + 5×1.0 + 1×(−2.0) = 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715000" y="288036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40000000000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2935224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6168" y="3017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16168" y="3410712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Every neural network layer repeatedly computes weighted sums of numbers.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Compact notation: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743200" y="4160520"/>
            <a:ext cx="301752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427024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w · x + b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080760" y="4279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“·” is the dot product: multiply matching positions, then add.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 vector is simply an ordered list of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it as coordinates describing one object.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197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vector 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1508760"/>
            <a:ext cx="91440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361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0.8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075688"/>
            <a:ext cx="91440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0.2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642616"/>
            <a:ext cx="91440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7004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0.6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One vector can represent: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4114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 point in space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features of a customer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pixels of an image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 token/word representation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4251960"/>
            <a:ext cx="0" cy="-242316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4251960"/>
            <a:ext cx="27432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89520" y="4251960"/>
            <a:ext cx="2057400" cy="-178308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73252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v = [2, 3]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60920" y="4663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A vector has both magnitude and direction.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4e+2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946904"/>
            <a:ext cx="73152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0292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LLM connection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5422392"/>
            <a:ext cx="5248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Each token is represented by a learned high-dimensional vector.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Similar meanings can point in similar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similarity measures the angle between vectors.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194560" y="4937760"/>
            <a:ext cx="0" cy="-320040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94560" y="4937760"/>
            <a:ext cx="3657600" cy="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94560" y="4937760"/>
            <a:ext cx="2788920" cy="-2743200"/>
          </a:xfrm>
          <a:prstGeom prst="line">
            <a:avLst/>
          </a:prstGeom>
          <a:noFill/>
          <a:ln w="3810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4937760"/>
            <a:ext cx="2377440" cy="-246888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4937760"/>
            <a:ext cx="777240" cy="-29718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892040" y="1828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5BD6"/>
                </a:solidFill>
              </a:rPr>
              <a:t>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2677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queen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car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457200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70992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cos(θ) = (a · b) / (||a|| ||b||)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583680" y="246888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4000000000000002e+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523744"/>
            <a:ext cx="73152" cy="94183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260604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4848" y="2999232"/>
            <a:ext cx="4242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near 1 → similar direction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near 0 → unrelated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near −1 → opposite direction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38862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4000000000000003e+3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3941064"/>
            <a:ext cx="73152" cy="9418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40233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Important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4848" y="4416552"/>
            <a:ext cx="4242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Dimension 1 is not permanently “gender,” dimension 2 “royalty,” etc. Meaning is distributed across the whole vector.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 matrix is a table of numbers that transforms vectors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Matrices are the main learned parameters in neural networks.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0120" y="15179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822960" cy="53035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56232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783080" y="1828800"/>
            <a:ext cx="822960" cy="53035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856232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359152"/>
            <a:ext cx="822960" cy="53035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86584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783080" y="2359152"/>
            <a:ext cx="822960" cy="53035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386584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15179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828800"/>
            <a:ext cx="8229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856232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246120" y="2359152"/>
            <a:ext cx="8229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386584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=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92040" y="15179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Wx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828800"/>
            <a:ext cx="822960" cy="53035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856232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8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892040" y="2359152"/>
            <a:ext cx="822960" cy="53035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86584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because: [1×2 + 2×3, 0×2 + 1×3] = [8, 3]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03720" y="146304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4000000000000003e+3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517904"/>
            <a:ext cx="73152" cy="10332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4888" y="160020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Geometric view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04888" y="1993392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 matrix can rotate, stretch, compress, mix, or project a vector.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03720" y="288036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4000000000000002e+4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9440" y="2935224"/>
            <a:ext cx="73152" cy="103327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04888" y="30175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Neural-network view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04888" y="3410712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 matrix mixes information from input dimensions into new learned dimensions.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03720" y="429768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4000000000000002e+4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49440" y="4352544"/>
            <a:ext cx="73152" cy="10332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04888" y="44348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LLM view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04888" y="4828032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Large matrices create Q, K, V vectors, feed-forward transformations, and vocabulary logits.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Matrix dimensions tell us what can multiply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one rule removes much of the confusion.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88920" y="1417320"/>
            <a:ext cx="65836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62072" y="1527048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 × n) · (n × p) → (m × p)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7490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Inner dimensions must match.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75234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A: 2×3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34440" y="3063240"/>
            <a:ext cx="713232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09067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47672" y="3063240"/>
            <a:ext cx="713232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309067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60904" y="3063240"/>
            <a:ext cx="713232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309067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3502152"/>
            <a:ext cx="713232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52958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47672" y="3502152"/>
            <a:ext cx="713232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7672" y="352958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60904" y="3502152"/>
            <a:ext cx="713232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352958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×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60520" y="252374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B: 3×2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2834640"/>
            <a:ext cx="713232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86207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73752" y="2834640"/>
            <a:ext cx="713232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86207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60520" y="3273552"/>
            <a:ext cx="713232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30098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73752" y="3273552"/>
            <a:ext cx="713232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30098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60520" y="3712464"/>
            <a:ext cx="713232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37398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73752" y="3712464"/>
            <a:ext cx="713232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7398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89320" y="3657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→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12280" y="27523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C: 2×2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12280" y="3063240"/>
            <a:ext cx="82296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090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35240" y="3063240"/>
            <a:ext cx="82296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090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12280" y="3502152"/>
            <a:ext cx="82296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5295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635240" y="3502152"/>
            <a:ext cx="82296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5240" y="35295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732520" y="2852928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4e+54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778240" y="2907792"/>
            <a:ext cx="73152" cy="1444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33688" y="2990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 transformers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33688" y="338328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Sequence length and embedding dimension determine most matrix shapes.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 neuron: weighted sum + non-linearity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non-linearity, many layers collapse into one linear transformation.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x₁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1920240"/>
            <a:ext cx="2834640" cy="9601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606040"/>
            <a:ext cx="640080" cy="640080"/>
          </a:xfrm>
          <a:prstGeom prst="ellipse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163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x₂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00200" y="2926080"/>
            <a:ext cx="2834640" cy="-457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3611880"/>
            <a:ext cx="640080" cy="640080"/>
          </a:xfrm>
          <a:prstGeom prst="ellipse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221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x₃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0200" y="3931920"/>
            <a:ext cx="2834640" cy="-105156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2331720"/>
            <a:ext cx="1143000" cy="1143000"/>
          </a:xfrm>
          <a:prstGeom prst="ellipse">
            <a:avLst/>
          </a:prstGeom>
          <a:solidFill>
            <a:srgbClr val="EEF0FF"/>
          </a:solidFill>
          <a:ln w="25400">
            <a:solidFill>
              <a:srgbClr val="5B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5786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5BD6"/>
                </a:solidFill>
              </a:rPr>
              <a:t>Σ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669280" y="2907792"/>
            <a:ext cx="1737360" cy="0"/>
          </a:xfrm>
          <a:prstGeom prst="line">
            <a:avLst/>
          </a:prstGeom>
          <a:noFill/>
          <a:ln w="3175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2359152"/>
            <a:ext cx="1463040" cy="1051560"/>
          </a:xfrm>
          <a:prstGeom prst="roundRect">
            <a:avLst/>
          </a:prstGeom>
          <a:solidFill>
            <a:srgbClr val="FFF6E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5786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GELU /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ReLU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06840" y="2907792"/>
            <a:ext cx="128016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332720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output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017520" y="4343400"/>
            <a:ext cx="621792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4453128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= activation(Wx + b)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Learning means reducing error by changing weights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 is a controlled “which direction lowers the loss?” process.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Example: target = 10, prediction = 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8404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8424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= (10 − 7)² = 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The gradient tells how loss changes when a parameter changes.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4800600"/>
            <a:ext cx="0" cy="-320040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0" y="4800600"/>
            <a:ext cx="4297680" cy="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75120" y="4763567"/>
            <a:ext cx="96012" cy="-237366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71132" y="4526201"/>
            <a:ext cx="96012" cy="-226276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67144" y="4299925"/>
            <a:ext cx="96012" cy="-215187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63156" y="4084738"/>
            <a:ext cx="96012" cy="-204098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3880640"/>
            <a:ext cx="96012" cy="-193008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5180" y="3687632"/>
            <a:ext cx="96012" cy="-181919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51192" y="3505714"/>
            <a:ext cx="96012" cy="-170829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47204" y="3334884"/>
            <a:ext cx="96012" cy="-159740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43216" y="3175144"/>
            <a:ext cx="96012" cy="-148651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9228" y="3026494"/>
            <a:ext cx="96012" cy="-137561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888933"/>
            <a:ext cx="96012" cy="-126472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31252" y="2762461"/>
            <a:ext cx="96012" cy="-115382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27264" y="2647078"/>
            <a:ext cx="96012" cy="-104293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3276" y="2542785"/>
            <a:ext cx="96012" cy="-93204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19288" y="2449582"/>
            <a:ext cx="96012" cy="-82114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5300" y="2367467"/>
            <a:ext cx="96012" cy="-71025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2296442"/>
            <a:ext cx="96012" cy="-59935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7324" y="2236507"/>
            <a:ext cx="96012" cy="-48846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03336" y="2187661"/>
            <a:ext cx="96012" cy="-37757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99348" y="2149904"/>
            <a:ext cx="96012" cy="-26667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2123237"/>
            <a:ext cx="96012" cy="-15578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91372" y="2107659"/>
            <a:ext cx="96012" cy="-4489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87384" y="2103170"/>
            <a:ext cx="96012" cy="6601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83396" y="2109771"/>
            <a:ext cx="96012" cy="17690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79408" y="2127461"/>
            <a:ext cx="96012" cy="28780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75420" y="2156241"/>
            <a:ext cx="96012" cy="39869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71432" y="2196110"/>
            <a:ext cx="96012" cy="50958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67444" y="2247068"/>
            <a:ext cx="96012" cy="62048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63456" y="2309116"/>
            <a:ext cx="96012" cy="73137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59468" y="2382253"/>
            <a:ext cx="96012" cy="84227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55480" y="2466480"/>
            <a:ext cx="96012" cy="95316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51492" y="2561796"/>
            <a:ext cx="96012" cy="106405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47504" y="2668201"/>
            <a:ext cx="96012" cy="117495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43516" y="2785696"/>
            <a:ext cx="96012" cy="128584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39528" y="2914280"/>
            <a:ext cx="96012" cy="139673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35540" y="3053953"/>
            <a:ext cx="96012" cy="150763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31552" y="3204716"/>
            <a:ext cx="96012" cy="161852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27564" y="3366568"/>
            <a:ext cx="96012" cy="172942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23576" y="3539510"/>
            <a:ext cx="96012" cy="184031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0" y="1463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loss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875520" y="50292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weight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0" y="2743200"/>
            <a:ext cx="731520" cy="640080"/>
          </a:xfrm>
          <a:prstGeom prst="line">
            <a:avLst/>
          </a:prstGeom>
          <a:noFill/>
          <a:ln w="2921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046720" y="3383280"/>
            <a:ext cx="502920" cy="548640"/>
          </a:xfrm>
          <a:prstGeom prst="line">
            <a:avLst/>
          </a:prstGeom>
          <a:noFill/>
          <a:ln w="2921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704088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move downhill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828800" y="5486400"/>
            <a:ext cx="84124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01952" y="559612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weight = old weight − learning_rate × gradient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</a:rPr>
              <a:t>PART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words to vectors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24612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LLMs first turn text into tokens, then map those token IDs into learned vectors. Those vectors—not the raw words—flow through the transformer.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983480"/>
            <a:ext cx="4846320" cy="0"/>
          </a:xfrm>
          <a:prstGeom prst="line">
            <a:avLst/>
          </a:prstGeom>
          <a:noFill/>
          <a:ln w="50800">
            <a:solidFill>
              <a:srgbClr val="6366F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GPT does not directly read words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is split into tokens, and each token is assigned an integer ID.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Input text: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10312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</a:rPr>
              <a:t>"The cat is sleeping"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2057400" cy="8686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042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The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ID 464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057400" cy="86868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3042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 cat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26334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ID 3797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057400" cy="8686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3042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 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0" y="26334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ID 318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32520" y="2148840"/>
            <a:ext cx="2057400" cy="86868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23042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 sleeping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23960" y="26334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ID 12715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337560"/>
            <a:ext cx="0" cy="914400"/>
          </a:xfrm>
          <a:prstGeom prst="line">
            <a:avLst/>
          </a:prstGeom>
          <a:noFill/>
          <a:ln w="3175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91840" y="434340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4000000000000001e+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4398264"/>
            <a:ext cx="73152" cy="10332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4480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Next step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93008" y="4873752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Each token ID indexes one row in an embedding matrix.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Embedding matrix: token ID → vector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vocabulary item has a learned row in E ∈ ℝ^(V×d).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97864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Embedding matrix 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3619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01368" y="150876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153619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-0.31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25496" y="150876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5496" y="153619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0.44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9624" y="150876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153619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01168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03911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0.78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01368" y="201168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1368" y="203911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0.11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25496" y="201168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25496" y="203911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-0.09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9624" y="201168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9624" y="203911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251460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4203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-0.22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01368" y="251460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01368" y="254203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0.65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825496" y="251460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25496" y="254203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0.07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9624" y="251460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9624" y="254203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" y="301752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04495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801368" y="301752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01368" y="304495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825496" y="301752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25496" y="304495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49624" y="3017520"/>
            <a:ext cx="10241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9624" y="3044952"/>
            <a:ext cx="1024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V rows = vocabulary size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468880"/>
            <a:ext cx="1371600" cy="0"/>
          </a:xfrm>
          <a:prstGeom prst="line">
            <a:avLst/>
          </a:prstGeom>
          <a:noFill/>
          <a:ln w="3175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83680" y="1508760"/>
            <a:ext cx="1554480" cy="566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1700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token ID = 2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360920" y="2148840"/>
            <a:ext cx="0" cy="64008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931152" y="256946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embedding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31152" y="2880360"/>
            <a:ext cx="86868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29077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-0.22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931152" y="3319272"/>
            <a:ext cx="86868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31152" y="334670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0.65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931152" y="3758184"/>
            <a:ext cx="86868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31152" y="3785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0.07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31152" y="4197096"/>
            <a:ext cx="868680" cy="438912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31152" y="42245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778240" y="160020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4e+64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823960" y="1655064"/>
            <a:ext cx="73152" cy="1993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79408" y="17373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Key point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79408" y="2130552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The dimensions are learned features. They are not manually named. Meaning comes from the pattern across dimensions.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103120" y="4800600"/>
            <a:ext cx="804672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76272" y="4910328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E[token_id] → vector of length 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Static embedding vs contextual representation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token starts with the same embedding, but context changes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663440" cy="1143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73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 deposited money in the bank.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0756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initial “bank” embedding starts the same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984248"/>
            <a:ext cx="1097280" cy="0"/>
          </a:xfrm>
          <a:prstGeom prst="line">
            <a:avLst/>
          </a:prstGeom>
          <a:noFill/>
          <a:ln w="3048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03720" y="1490472"/>
            <a:ext cx="4114800" cy="98755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contextual vector → financial institution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4663440" cy="1143000"/>
          </a:xfrm>
          <a:prstGeom prst="roundRect">
            <a:avLst/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39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We sat on the river bank.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0416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initial “bank” embedding starts the same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3950208"/>
            <a:ext cx="1097280" cy="0"/>
          </a:xfrm>
          <a:prstGeom prst="line">
            <a:avLst/>
          </a:prstGeom>
          <a:noFill/>
          <a:ln w="3048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3456432"/>
            <a:ext cx="4114800" cy="98755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contextual vector → river edge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57400" y="54406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4000000000000001e+6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03120" y="5495544"/>
            <a:ext cx="73152" cy="548640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5577840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Attention creates context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58568" y="5971032"/>
            <a:ext cx="7808976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Each token representation is updated using information from other relevant tokens.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</a:rPr>
              <a:t>PART III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Attention: how tokens look at other tokens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24612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Self-attention computes relevance scores between tokens, then mixes information accordingly. This is the core operation that lets GPT build context.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983480"/>
            <a:ext cx="4846320" cy="0"/>
          </a:xfrm>
          <a:prstGeom prst="line">
            <a:avLst/>
          </a:prstGeom>
          <a:noFill/>
          <a:ln w="50800">
            <a:solidFill>
              <a:srgbClr val="6366F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Query, Key, Value: three learned views of each token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input vector is projected through three different matrices.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1920240" cy="914400"/>
          </a:xfrm>
          <a:prstGeom prst="roundRect">
            <a:avLst/>
          </a:prstGeom>
          <a:solidFill>
            <a:srgbClr val="E7F7F3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</a:rPr>
              <a:t>token vector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</a:rPr>
              <a:t>x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880360" y="2697480"/>
            <a:ext cx="960120" cy="-932688"/>
          </a:xfrm>
          <a:prstGeom prst="line">
            <a:avLst/>
          </a:prstGeom>
          <a:noFill/>
          <a:ln w="2667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1325880"/>
            <a:ext cx="2057400" cy="841248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Q = xWQ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1508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What am I looking for?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80360" y="2697480"/>
            <a:ext cx="960120" cy="256032"/>
          </a:xfrm>
          <a:prstGeom prst="line">
            <a:avLst/>
          </a:prstGeom>
          <a:noFill/>
          <a:ln w="2667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2514600"/>
            <a:ext cx="2057400" cy="841248"/>
          </a:xfrm>
          <a:prstGeom prst="roundRect">
            <a:avLst/>
          </a:prstGeom>
          <a:solidFill>
            <a:srgbClr val="EEF0FF"/>
          </a:solidFill>
          <a:ln w="1778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743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BD6"/>
                </a:solidFill>
              </a:rPr>
              <a:t>K = xWK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2697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What do I contain?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80360" y="2697480"/>
            <a:ext cx="960120" cy="1444752"/>
          </a:xfrm>
          <a:prstGeom prst="line">
            <a:avLst/>
          </a:prstGeom>
          <a:noFill/>
          <a:ln w="2667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3703320"/>
            <a:ext cx="2057400" cy="841248"/>
          </a:xfrm>
          <a:prstGeom prst="roundRect">
            <a:avLst/>
          </a:prstGeom>
          <a:solidFill>
            <a:srgbClr val="FFF6E5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V = xWV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3886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What information can I provide?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86000" y="5303520"/>
            <a:ext cx="804672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5413248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XWQ   •   K = XWK   •   V = XWV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Attention score = similarity between Query and Key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dot product says how strongly one token should attend to another.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Toy example: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05840" y="156362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Q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86868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01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423160"/>
            <a:ext cx="86868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5059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0" y="156362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K₁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1874520"/>
            <a:ext cx="868680" cy="548640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901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71800" y="2423160"/>
            <a:ext cx="868680" cy="548640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45059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156362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K₂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874520"/>
            <a:ext cx="868680" cy="548640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01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92040" y="2423160"/>
            <a:ext cx="868680" cy="548640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5059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1691640"/>
            <a:ext cx="425196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1801368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Q·K₁ = 1×2 + 2×1 = 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7960" y="2514600"/>
            <a:ext cx="425196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2624328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Q·K₂ = 1×0 + 2×3 = 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5840" y="384048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4e+7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1560" y="3895344"/>
            <a:ext cx="73152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3977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7008" y="4370832"/>
            <a:ext cx="4471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Token 2 gets the larger relevance score in this toy example.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160520"/>
            <a:ext cx="425196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4270248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= QKᵀ / √dₖ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29400" y="48920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The √dₖ scaling keeps dot products numerically stable as dimension grows.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Softmax turns scores into attention weights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weights are positive and sum to 1.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Raw scores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80160" y="1874520"/>
            <a:ext cx="100584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0195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2.0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80160" y="2441448"/>
            <a:ext cx="100584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4688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1.0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80160" y="3008376"/>
            <a:ext cx="100584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0.0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560320" y="2697480"/>
            <a:ext cx="1600200" cy="0"/>
          </a:xfrm>
          <a:prstGeom prst="line">
            <a:avLst/>
          </a:prstGeom>
          <a:noFill/>
          <a:ln w="3048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8036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5BD6"/>
                </a:solidFill>
              </a:rPr>
              <a:t>softmax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15636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weights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874520"/>
            <a:ext cx="1143000" cy="566928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90195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0.665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2441448"/>
            <a:ext cx="1143000" cy="566928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4688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0.245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89120" y="3008376"/>
            <a:ext cx="1143000" cy="566928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03580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0.090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51960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≈ 1.000 total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150876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4e+7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563624"/>
            <a:ext cx="73152" cy="10332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645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Meaning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47688" y="2039112"/>
            <a:ext cx="4105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The model allocates more attention to tokens with higher compatibility scores.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3017520"/>
            <a:ext cx="443484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127248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softmax(sᵢ) = eˢⁱ / Σⱼ eˢʲ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446520" y="397764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4000000000000001e+8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4032504"/>
            <a:ext cx="73152" cy="10332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41148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Then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47688" y="4507992"/>
            <a:ext cx="4105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weighted output = Σ attention_weight × Value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Why the causal attention mask is essential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must not “peek” at future tokens while predicting the next token.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82880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The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73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The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90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down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1508760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508760"/>
            <a:ext cx="914400" cy="658368"/>
          </a:xfrm>
          <a:prstGeom prst="rect">
            <a:avLst/>
          </a:prstGeom>
          <a:solidFill>
            <a:srgbClr val="FD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−∞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1508760"/>
            <a:ext cx="914400" cy="658368"/>
          </a:xfrm>
          <a:prstGeom prst="rect">
            <a:avLst/>
          </a:prstGeom>
          <a:solidFill>
            <a:srgbClr val="FD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−∞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508760"/>
            <a:ext cx="914400" cy="658368"/>
          </a:xfrm>
          <a:prstGeom prst="rect">
            <a:avLst/>
          </a:prstGeom>
          <a:solidFill>
            <a:srgbClr val="FD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−∞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0" y="2167128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2167128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2167128"/>
            <a:ext cx="914400" cy="658368"/>
          </a:xfrm>
          <a:prstGeom prst="rect">
            <a:avLst/>
          </a:prstGeom>
          <a:solidFill>
            <a:srgbClr val="FD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−∞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2167128"/>
            <a:ext cx="914400" cy="658368"/>
          </a:xfrm>
          <a:prstGeom prst="rect">
            <a:avLst/>
          </a:prstGeom>
          <a:solidFill>
            <a:srgbClr val="FD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−∞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28800" y="2825496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3008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2825496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008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0" y="2825496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008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0" y="2825496"/>
            <a:ext cx="914400" cy="658368"/>
          </a:xfrm>
          <a:prstGeom prst="rect">
            <a:avLst/>
          </a:prstGeom>
          <a:solidFill>
            <a:srgbClr val="FD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008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−∞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828800" y="3483864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3666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743200" y="3483864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3666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0" y="3483864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3666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0" y="3483864"/>
            <a:ext cx="914400" cy="658368"/>
          </a:xfrm>
          <a:prstGeom prst="rect">
            <a:avLst/>
          </a:prstGeom>
          <a:solidFill>
            <a:srgbClr val="E7F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666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035040" y="1417320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4000000000000002e+89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1472184"/>
            <a:ext cx="73152" cy="10607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155448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Allowed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36208" y="1947672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 token can attend to itself and earlier tokens.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035040" y="2880360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4000000000000002e+94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80760" y="2935224"/>
            <a:ext cx="73152" cy="10607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301752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Blocked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36208" y="3410712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Future positions get −∞ before softmax, producing attention weight ≈ 0.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035040" y="4343400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4000000000000001e+99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80760" y="4398264"/>
            <a:ext cx="73152" cy="10607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44805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essential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36208" y="4873752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Without masking during training, GPT could cheat by reading the answer token to its right.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Self-attention in one equation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combine projection, similarity, masking, normalization, and value mixing.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1560" y="1417320"/>
            <a:ext cx="1005840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" y="1527048"/>
            <a:ext cx="9912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Attention(Q,K,V) = softmax((QKᵀ / √dₖ) + mask) V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49808" y="2743200"/>
            <a:ext cx="1627632" cy="14173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2889504"/>
            <a:ext cx="530352" cy="530352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30540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56616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38587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X → Q, K, V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24328" y="2743200"/>
            <a:ext cx="1627632" cy="1417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889504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30540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15768" y="356616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15768" y="38587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QKᵀ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98848" y="2743200"/>
            <a:ext cx="1627632" cy="14173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2889504"/>
            <a:ext cx="530352" cy="530352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30540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0288" y="356616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0288" y="38587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÷ √dₖ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73368" y="2743200"/>
            <a:ext cx="1627632" cy="1417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76288" y="2889504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30540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64808" y="356616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Mask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64808" y="38587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block future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47888" y="2743200"/>
            <a:ext cx="1627632" cy="14173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0808" y="2889504"/>
            <a:ext cx="530352" cy="530352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30540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9328" y="356616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Normalize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39328" y="38587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softmax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122408" y="2743200"/>
            <a:ext cx="1627632" cy="1417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25328" y="2889504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25328" y="30540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13848" y="356616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Mix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13848" y="38587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weights × V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194560" y="4800600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4000000000000002e+104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40280" y="4855464"/>
            <a:ext cx="73152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95728" y="4937760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Result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395728" y="5330952"/>
            <a:ext cx="7443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Every token receives a context-aware vector based on relevant earlier tokens.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Multi-head attention: several attention patterns in parallel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heads can specialize in different relationships.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331720" cy="1371600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Head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syntax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38528" y="3063240"/>
            <a:ext cx="0" cy="73152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66160" y="1600200"/>
            <a:ext cx="2331720" cy="1371600"/>
          </a:xfrm>
          <a:prstGeom prst="roundRect">
            <a:avLst/>
          </a:prstGeom>
          <a:solidFill>
            <a:srgbClr val="EEF0FF"/>
          </a:solidFill>
          <a:ln w="1778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BD6"/>
                </a:solidFill>
              </a:rPr>
              <a:t>Head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reference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27448" y="3063240"/>
            <a:ext cx="0" cy="731520"/>
          </a:xfrm>
          <a:prstGeom prst="line">
            <a:avLst/>
          </a:prstGeom>
          <a:noFill/>
          <a:ln w="2286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1600200"/>
            <a:ext cx="2331720" cy="1371600"/>
          </a:xfrm>
          <a:prstGeom prst="roundRect">
            <a:avLst/>
          </a:prstGeom>
          <a:solidFill>
            <a:srgbClr val="E7F7F3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Head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position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16368" y="3063240"/>
            <a:ext cx="0" cy="73152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1600200"/>
            <a:ext cx="2331720" cy="1371600"/>
          </a:xfrm>
          <a:prstGeom prst="roundRect">
            <a:avLst/>
          </a:prstGeom>
          <a:solidFill>
            <a:srgbClr val="FFF6E5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Head 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other pattern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305288" y="3063240"/>
            <a:ext cx="0" cy="731520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3886200"/>
            <a:ext cx="7086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D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41605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Concatenate head outputs → multiply by output matrix Wᴼ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94560" y="5166360"/>
            <a:ext cx="781812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5276088"/>
            <a:ext cx="7671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MultiHead = Concat(head₁, …, headₕ) Wᴼ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Feed-forward network: transform each token independently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mixes information across tokens; the FFN then processes each token vector.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1554480" cy="1005840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4963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input 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4600" y="2651760"/>
            <a:ext cx="521208" cy="0"/>
          </a:xfrm>
          <a:prstGeom prst="line">
            <a:avLst/>
          </a:prstGeom>
          <a:noFill/>
          <a:ln w="2286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2148840"/>
            <a:ext cx="1554480" cy="1005840"/>
          </a:xfrm>
          <a:prstGeom prst="roundRect">
            <a:avLst/>
          </a:prstGeom>
          <a:solidFill>
            <a:srgbClr val="EEF0FF"/>
          </a:solidFill>
          <a:ln w="1778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24963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5BD6"/>
                </a:solidFill>
              </a:rPr>
              <a:t>W₁x+b₁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2651760"/>
            <a:ext cx="521208" cy="0"/>
          </a:xfrm>
          <a:prstGeom prst="line">
            <a:avLst/>
          </a:prstGeom>
          <a:noFill/>
          <a:ln w="2286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03520" y="2148840"/>
            <a:ext cx="1554480" cy="1005840"/>
          </a:xfrm>
          <a:prstGeom prst="roundRect">
            <a:avLst/>
          </a:prstGeom>
          <a:solidFill>
            <a:srgbClr val="FFF6E5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24963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GELU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2651760"/>
            <a:ext cx="521208" cy="0"/>
          </a:xfrm>
          <a:prstGeom prst="line">
            <a:avLst/>
          </a:prstGeom>
          <a:noFill/>
          <a:ln w="2286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2148840"/>
            <a:ext cx="1554480" cy="1005840"/>
          </a:xfrm>
          <a:prstGeom prst="roundRect">
            <a:avLst/>
          </a:prstGeom>
          <a:solidFill>
            <a:srgbClr val="E7F7F3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4963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W₂h+b₂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98280" y="2651760"/>
            <a:ext cx="521208" cy="0"/>
          </a:xfrm>
          <a:prstGeom prst="line">
            <a:avLst/>
          </a:prstGeom>
          <a:noFill/>
          <a:ln w="2286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2148840"/>
            <a:ext cx="155448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4963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output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28800" y="3977640"/>
            <a:ext cx="850392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01952" y="4087368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FFN(x) = W₂ · GELU(W₁x + b₁) + b₂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011680" y="493776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4e+10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57400" y="4992624"/>
            <a:ext cx="73152" cy="576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5074920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Typical pattern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12848" y="5468112"/>
            <a:ext cx="780897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Expand embedding dimension → apply non-linearity → project back.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Residual connections and normalization stabilize deep networks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 repeatedly add the original signal back 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828800" cy="9144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14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34640" y="2651760"/>
            <a:ext cx="1737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63440" y="2057400"/>
            <a:ext cx="2011680" cy="11887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Attention / FFN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F(x)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0" y="2651760"/>
            <a:ext cx="1463040" cy="0"/>
          </a:xfrm>
          <a:prstGeom prst="line">
            <a:avLst/>
          </a:prstGeom>
          <a:noFill/>
          <a:ln w="2540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75320" y="2331720"/>
            <a:ext cx="685800" cy="685800"/>
          </a:xfrm>
          <a:prstGeom prst="ellipse">
            <a:avLst/>
          </a:prstGeom>
          <a:solidFill>
            <a:srgbClr val="FFF6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25237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828800" y="3246120"/>
            <a:ext cx="0" cy="91440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4160520"/>
            <a:ext cx="6766560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4160520"/>
            <a:ext cx="0" cy="-1033272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52560" y="2651760"/>
            <a:ext cx="11887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241280" y="2487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LayerNorm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71800" y="4983480"/>
            <a:ext cx="329184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5093208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= x + F(x)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4983480"/>
            <a:ext cx="420624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509320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= LayerNorm(residual)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One transformer block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stacks this pattern many times.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880360" y="1188720"/>
            <a:ext cx="6400800" cy="566928"/>
          </a:xfrm>
          <a:prstGeom prst="roundRect">
            <a:avLst/>
          </a:prstGeom>
          <a:solidFill>
            <a:srgbClr val="EAF2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63240" y="136245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Input embeddings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1783080"/>
            <a:ext cx="0" cy="19202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2011680"/>
            <a:ext cx="6400800" cy="566928"/>
          </a:xfrm>
          <a:prstGeom prst="roundRect">
            <a:avLst/>
          </a:prstGeom>
          <a:solidFill>
            <a:srgbClr val="EEF0FF"/>
          </a:solidFill>
          <a:ln w="15875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18541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5BD6"/>
                </a:solidFill>
              </a:rPr>
              <a:t>Masked multi-head attention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2606040"/>
            <a:ext cx="0" cy="19202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834640"/>
            <a:ext cx="6400800" cy="566928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300837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Add + Norm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3429000"/>
            <a:ext cx="0" cy="19202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3657600"/>
            <a:ext cx="6400800" cy="566928"/>
          </a:xfrm>
          <a:prstGeom prst="roundRect">
            <a:avLst/>
          </a:prstGeom>
          <a:solidFill>
            <a:srgbClr val="E7F7F3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383133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Feed-forward network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0760" y="4251960"/>
            <a:ext cx="0" cy="19202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80360" y="4480560"/>
            <a:ext cx="64008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465429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Add + Norm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5074920"/>
            <a:ext cx="0" cy="192024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80360" y="5303520"/>
            <a:ext cx="6400800" cy="566928"/>
          </a:xfrm>
          <a:prstGeom prst="roundRect">
            <a:avLst/>
          </a:prstGeom>
          <a:solidFill>
            <a:srgbClr val="EAF2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5477256"/>
            <a:ext cx="6035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Next block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4692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5BD6"/>
                </a:solidFill>
              </a:rPr>
              <a:t>× N layers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201168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4e+11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" y="2066544"/>
            <a:ext cx="73152" cy="20848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21488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The big picture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536" y="2542032"/>
            <a:ext cx="14996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Attention = communicate across positions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FFN = compute per position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Residuals = preserve signal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Final hidden vector → vocabulary scores (logits)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converts the last token representation into one score per vocabulary token.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517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last hidden vector 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868680" cy="457200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562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0.42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868680" cy="457200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13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-0.11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868680" cy="457200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706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0.73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868680" cy="457200"/>
          </a:xfrm>
          <a:prstGeom prst="rect">
            <a:avLst/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278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74520" y="2697480"/>
            <a:ext cx="1417320" cy="0"/>
          </a:xfrm>
          <a:prstGeom prst="line">
            <a:avLst/>
          </a:prstGeom>
          <a:noFill/>
          <a:ln w="2794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2011680"/>
            <a:ext cx="2011680" cy="1371600"/>
          </a:xfrm>
          <a:prstGeom prst="roundRect">
            <a:avLst/>
          </a:prstGeom>
          <a:solidFill>
            <a:srgbClr val="EEF0FF"/>
          </a:solidFill>
          <a:ln w="19050">
            <a:solidFill>
              <a:srgbClr val="5B5B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Vocabulary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projection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W_vocab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32120" y="2697480"/>
            <a:ext cx="1188720" cy="0"/>
          </a:xfrm>
          <a:prstGeom prst="line">
            <a:avLst/>
          </a:prstGeom>
          <a:noFill/>
          <a:ln w="27940">
            <a:solidFill>
              <a:srgbClr val="5B5BD6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903720" y="128930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logits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600200"/>
            <a:ext cx="169164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627632"/>
            <a:ext cx="1691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cat  3.1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03720" y="2103120"/>
            <a:ext cx="169164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130552"/>
            <a:ext cx="1691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dog  1.4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2606040"/>
            <a:ext cx="169164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633472"/>
            <a:ext cx="1691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sat  0.8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03720" y="3108960"/>
            <a:ext cx="169164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136392"/>
            <a:ext cx="1691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…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32520" y="269748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38360" y="1965960"/>
            <a:ext cx="1371600" cy="1417320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93808" y="2395728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softmax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→ probabilities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26080" y="4343400"/>
            <a:ext cx="630936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4453128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logits = h W_vocab + b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GPT generates one token at a time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Autoregressive generation is a repeated predict → append → predict loop.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965960" cy="18288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01168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1854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Prompt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3063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The sky 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87752" y="2743200"/>
            <a:ext cx="274320" cy="0"/>
          </a:xfrm>
          <a:prstGeom prst="line">
            <a:avLst/>
          </a:prstGeom>
          <a:noFill/>
          <a:ln w="2159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1965960" cy="182880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2011680"/>
            <a:ext cx="548640" cy="548640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1854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Predict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90672" y="3063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blue 0.62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clear 0.14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dark 0.07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19472" y="2743200"/>
            <a:ext cx="274320" cy="0"/>
          </a:xfrm>
          <a:prstGeom prst="line">
            <a:avLst/>
          </a:prstGeom>
          <a:noFill/>
          <a:ln w="2159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1828800"/>
            <a:ext cx="1965960" cy="18288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5312" y="201168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21854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Choose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22392" y="3063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blue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51192" y="2743200"/>
            <a:ext cx="274320" cy="0"/>
          </a:xfrm>
          <a:prstGeom prst="line">
            <a:avLst/>
          </a:prstGeom>
          <a:noFill/>
          <a:ln w="2159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1828800"/>
            <a:ext cx="1965960" cy="182880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57032" y="2011680"/>
            <a:ext cx="548640" cy="548640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21854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Append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54112" y="3063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The sky is blue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82912" y="2743200"/>
            <a:ext cx="274320" cy="0"/>
          </a:xfrm>
          <a:prstGeom prst="line">
            <a:avLst/>
          </a:prstGeom>
          <a:noFill/>
          <a:ln w="2159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21240" y="1828800"/>
            <a:ext cx="1965960" cy="18288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88752" y="201168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88752" y="21854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04120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Repeat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85832" y="3063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predict next token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965960" y="4389120"/>
            <a:ext cx="8183880" cy="777240"/>
          </a:xfrm>
          <a:prstGeom prst="roundRect">
            <a:avLst>
              <a:gd name="adj" fmla="val 9412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4e+11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11680" y="4443984"/>
            <a:ext cx="73152" cy="6675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67128" y="45262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Core idea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167128" y="4919472"/>
            <a:ext cx="7854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GPT repeatedly estimates P(next token | all previous tokens).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794760" y="5440680"/>
            <a:ext cx="466344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67912" y="555040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P(tₙ | t₁, t₂, …, tₙ₋₁)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Temperature controls randomness during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changes the sharpness of the probability distribution.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3246120" cy="3154680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T = 0.3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more deterministic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788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blue 0.86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clear 0.08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dark 0.02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46120" cy="3154680"/>
          </a:xfrm>
          <a:prstGeom prst="roundRect">
            <a:avLst/>
          </a:prstGeom>
          <a:solidFill>
            <a:srgbClr val="EEF0FF"/>
          </a:solidFill>
          <a:ln w="1778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5BD6"/>
                </a:solidFill>
              </a:rPr>
              <a:t>T = 1.0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balanced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2788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blue 0.62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clear 0.14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dark 0.07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58200" y="1508760"/>
            <a:ext cx="3246120" cy="3154680"/>
          </a:xfrm>
          <a:prstGeom prst="roundRect">
            <a:avLst/>
          </a:prstGeom>
          <a:solidFill>
            <a:srgbClr val="FFF6E5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T = 1.5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more diverse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720" y="2788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blue 0.43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clear 0.19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dark 0.13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069080" y="5074920"/>
            <a:ext cx="411480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518464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softmax(logits / T)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How GPT is trained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teaches the model to assign higher probability to the correct next token.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645920" cy="1188720"/>
          </a:xfrm>
          <a:prstGeom prst="roundRect">
            <a:avLst/>
          </a:prstGeom>
          <a:solidFill>
            <a:srgbClr val="EAF2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Text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67712" y="2423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14600" y="1828800"/>
            <a:ext cx="1645920" cy="1188720"/>
          </a:xfrm>
          <a:prstGeom prst="roundRect">
            <a:avLst/>
          </a:prstGeom>
          <a:solidFill>
            <a:srgbClr val="EEF0FF"/>
          </a:solidFill>
          <a:ln w="15875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5BD6"/>
                </a:solidFill>
              </a:rPr>
              <a:t>Tokenize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87952" y="2423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34840" y="1828800"/>
            <a:ext cx="1645920" cy="1188720"/>
          </a:xfrm>
          <a:prstGeom prst="roundRect">
            <a:avLst/>
          </a:prstGeom>
          <a:solidFill>
            <a:srgbClr val="E7F7F3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Forward pass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08192" y="2423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1828800"/>
            <a:ext cx="1645920" cy="1188720"/>
          </a:xfrm>
          <a:prstGeom prst="roundRect">
            <a:avLst/>
          </a:prstGeom>
          <a:solidFill>
            <a:srgbClr val="FDECEC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Next-token loss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8432" y="2423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75320" y="1828800"/>
            <a:ext cx="1645920" cy="1188720"/>
          </a:xfrm>
          <a:prstGeom prst="roundRect">
            <a:avLst/>
          </a:prstGeom>
          <a:solidFill>
            <a:srgbClr val="FFF6E5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Backpropagation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948672" y="2423160"/>
            <a:ext cx="192024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95560" y="1828800"/>
            <a:ext cx="164592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Update weights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Example training shift: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Input:  "The cat sat"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690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5BD6"/>
                </a:solidFill>
              </a:rPr>
              <a:t>Targets:  "cat sat on"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52360" y="37947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4e+1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3849624"/>
            <a:ext cx="73152" cy="1216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393192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Teacher forcing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53528" y="4325112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At each position, the model is trained against the actual next token.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Cross-entropy loss: “How surprised was the model?”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correct token gets low probability, the loss is high.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749040" cy="1325880"/>
          </a:xfrm>
          <a:prstGeom prst="roundRect">
            <a:avLst/>
          </a:prstGeom>
          <a:solidFill>
            <a:srgbClr val="E7F7F3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Correct token probability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16276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</a:rPr>
              <a:t>0.80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loss = −ln(0.80) ≈ 0.22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3749040" cy="1325880"/>
          </a:xfrm>
          <a:prstGeom prst="roundRect">
            <a:avLst/>
          </a:prstGeom>
          <a:solidFill>
            <a:srgbClr val="FDECEC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Correct token probability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3639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0.10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43000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loss = −ln(0.10) ≈ 2.30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0720" y="1874520"/>
            <a:ext cx="512064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98424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B5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= −log P(correct next token)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760720" y="28803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4e+1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2935224"/>
            <a:ext cx="73152" cy="11247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01752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Training objective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1888" y="3410712"/>
            <a:ext cx="4791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Across billions/trillions of token positions, adjust weights so the correct continuation becomes more probable.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Why large models become powerful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gives the model capacity to represent many statistical patterns—but architecture and data quality still matter.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2788920" cy="62179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Parameters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776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learned matrices &amp; vectors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30552"/>
            <a:ext cx="2788920" cy="6217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13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7764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examples of language/code/world patterns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26664"/>
            <a:ext cx="2788920" cy="62179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095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Compute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31638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many training steps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2788920" cy="6217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056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Context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77640" y="4059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tokens available to reason over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818888"/>
            <a:ext cx="2788920" cy="62179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017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Post-training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77640" y="4956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instruction tuning &amp; preference optimization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12480" y="16002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6E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4e+13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1655064"/>
            <a:ext cx="73152" cy="3136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1737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But remember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13648" y="2130552"/>
            <a:ext cx="245973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An LLM is still a probabilistic model operating on vectors and matrices.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Its apparent intelligence emerges from learned representations, deep transformations, attention, and scale.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 End-to-end: what happens when you type a prompt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flow from characters to the next generated token.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2011680"/>
            <a:ext cx="1417320" cy="1417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70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"Explain gravity"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47088" y="2724912"/>
            <a:ext cx="1828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75688" y="2011680"/>
            <a:ext cx="1417320" cy="14173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Tokens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67128" y="2770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IDs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1296" y="2724912"/>
            <a:ext cx="1828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39896" y="2011680"/>
            <a:ext cx="1417320" cy="1417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Embeddings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31336" y="2770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vectors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75504" y="2724912"/>
            <a:ext cx="1828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04104" y="2011680"/>
            <a:ext cx="1417320" cy="14173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 transformer blocks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95544" y="2770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contextual vectors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39712" y="2724912"/>
            <a:ext cx="1828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68312" y="2011680"/>
            <a:ext cx="1417320" cy="1417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Logits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9752" y="2770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one/token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0" y="2724912"/>
            <a:ext cx="1828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32520" y="2011680"/>
            <a:ext cx="1417320" cy="14173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Softmax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23960" y="2770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probabilities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168128" y="2724912"/>
            <a:ext cx="182880" cy="0"/>
          </a:xfrm>
          <a:prstGeom prst="line">
            <a:avLst/>
          </a:prstGeom>
          <a:noFill/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96728" y="2011680"/>
            <a:ext cx="1417320" cy="1417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88168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Sample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488168" y="2770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next token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881360" y="3520440"/>
            <a:ext cx="0" cy="91440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81360" y="4434840"/>
            <a:ext cx="-96926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4434840"/>
            <a:ext cx="0" cy="-91440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57200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append token and repeat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011680" y="50749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4e+139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57400" y="5129784"/>
            <a:ext cx="73152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12848" y="5212080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This loop is GPT generation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212848" y="5605272"/>
            <a:ext cx="7808976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All the complexity serves one repeated task: estimate the next-token distribution.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 Common misconceptions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corrections for understanding LLM internals.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120640" cy="6858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“Each embedding dimension has a fixed human meaning.”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120640" cy="685800"/>
          </a:xfrm>
          <a:prstGeom prst="roundRect">
            <a:avLst/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No. Features are distributed and learned.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5120640" cy="6858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“Attention means the model understands like a human.”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120640" cy="685800"/>
          </a:xfrm>
          <a:prstGeom prst="roundRect">
            <a:avLst/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377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Attention is a mathematical information-routing mechanism.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5120640" cy="6858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37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“GPT retrieves a stored sentence.”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5120640" cy="685800"/>
          </a:xfrm>
          <a:prstGeom prst="roundRect">
            <a:avLst/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337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Usually it computes a fresh probability distribution token by token.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4114800"/>
            <a:ext cx="5120640" cy="6858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97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“One matrix stores all knowledge.”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17920" y="4114800"/>
            <a:ext cx="5120640" cy="685800"/>
          </a:xfrm>
          <a:prstGeom prst="roundRect">
            <a:avLst/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297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Knowledge is distributed across many parameters and layers.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5120640" cy="6858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257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“The highest-probability token is always chosen.”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17920" y="5074920"/>
            <a:ext cx="5120640" cy="685800"/>
          </a:xfrm>
          <a:prstGeom prst="roundRect">
            <a:avLst/>
          </a:prstGeom>
          <a:solidFill>
            <a:srgbClr val="E7F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5257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Sampling strategy can trade determinism for diversity.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 Mathematics cheat sheet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minimum equations to remember.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074920" cy="841248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399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Weighted sum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z = w·x + 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074920" cy="841248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399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8388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h = activation(Wx + b)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50749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Q/K/V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532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Q=XWQ, K=XWK, V=XWV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50749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Attention scores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2532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QKᵀ / √dₖ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5074920" cy="841248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85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Masked attention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softmax(scores + mask)V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09360" y="3520440"/>
            <a:ext cx="5074920" cy="841248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685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Next-token probabilities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softmax(logits)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50749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828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Training loss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06040" y="4818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−log P(correct token)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309360" y="4663440"/>
            <a:ext cx="507492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828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Gradient update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4818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θ ← θ − η∇L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30. Final mental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remember only one slide, remember this.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600200" cy="150876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58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Token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59152" y="2670048"/>
            <a:ext cx="585216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1920240"/>
            <a:ext cx="1600200" cy="1508760"/>
          </a:xfrm>
          <a:prstGeom prst="roundRect">
            <a:avLst/>
          </a:prstGeom>
          <a:solidFill>
            <a:srgbClr val="EEF0FF"/>
          </a:solidFill>
          <a:ln w="1905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2258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Vector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5468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meaning pattern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45152" y="2670048"/>
            <a:ext cx="585216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1920240"/>
            <a:ext cx="1600200" cy="150876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258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Matrices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transform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31152" y="2670048"/>
            <a:ext cx="585216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89520" y="1920240"/>
            <a:ext cx="1600200" cy="1508760"/>
          </a:xfrm>
          <a:prstGeom prst="roundRect">
            <a:avLst/>
          </a:prstGeom>
          <a:solidFill>
            <a:srgbClr val="EEF0FF"/>
          </a:solidFill>
          <a:ln w="19050">
            <a:solidFill>
              <a:srgbClr val="5B5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258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Attention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2668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mix context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17152" y="2670048"/>
            <a:ext cx="585216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75520" y="1920240"/>
            <a:ext cx="1600200" cy="150876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2258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Probability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1268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next token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1605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 is a very large learned function that repeatedly transforms token vectors and predicts what token should come next.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3931920" y="5303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5BD6"/>
                </a:solidFill>
              </a:rPr>
              <a:t>Simple arithmetic at enormous scale.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31. Trainer exercises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to check understanding interactively.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3999999999999999e+14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35024"/>
            <a:ext cx="73152" cy="103327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173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81051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Compute w·x for x=[2,1,3], w=[1,−1,0.5].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2801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1.4e+14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335024"/>
            <a:ext cx="73152" cy="10332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173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2.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6248" y="181051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Given A is 2×3 and B is 3×4, what is AB’s shape?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1.4e+15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43784"/>
            <a:ext cx="73152" cy="103327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9260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3.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" y="331927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Why does GPT need a causal mask?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27889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.4e+1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843784"/>
            <a:ext cx="73152" cy="10332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9260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4.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56248" y="331927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What is the difference between an embedding vector and a contextual vector?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1.4e+16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352544"/>
            <a:ext cx="73152" cy="1033272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4348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5.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968" y="482803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If the correct token probability rises from 0.1 to 0.8, what happens to cross-entropy loss?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42976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1.4e+16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352544"/>
            <a:ext cx="73152" cy="10332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44348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6.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6248" y="482803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Explain Q, K, V without using formulas.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43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B4FC"/>
                </a:solidFill>
              </a:rPr>
              <a:t>From simple math to GPT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Numbers → vectors → matrices → attention → probabilities → language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3749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The mathematics is approachable. The power comes from depth, data, scale, and learned representations.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6240" y="5074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Models Work: Simple Maths → Vectors → Matrices → GPT/LLMs</dc:title>
  <dc:subject>How Models Work Using Simple Maths, Vectors, Matrices, GPT and LLMs</dc:subject>
  <dc:creator>OpenAI</dc:creator>
  <cp:lastModifiedBy>OpenAI</cp:lastModifiedBy>
  <cp:revision>1</cp:revision>
  <dcterms:created xsi:type="dcterms:W3CDTF">2026-08-17T09:09:51Z</dcterms:created>
  <dcterms:modified xsi:type="dcterms:W3CDTF">2026-08-17T09:09:51Z</dcterms:modified>
</cp:coreProperties>
</file>