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RAG Architecture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097280" y="19659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</a:rPr>
              <a:t>Retrieval-Augmented Generation with Ollama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7432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Documents → embeddings → vector search → grounded LLM answers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17320" y="42519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90472" y="4288536"/>
            <a:ext cx="16824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Documents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4480560"/>
            <a:ext cx="685800" cy="32004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42519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4288536"/>
            <a:ext cx="16824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Vector DB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5080" y="4480560"/>
            <a:ext cx="685800" cy="32004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425196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4288536"/>
            <a:ext cx="200253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Ollama LLM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Why RAG?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An LLM may not contain your private, company-specific, or newly updated knowledge.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36776"/>
            <a:ext cx="213969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LLM alone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Question → model parameters → answer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36592" y="1636776"/>
            <a:ext cx="213969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RAG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3440" y="2697480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Question → retrieve evidence → answer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595360" y="160020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1636776"/>
            <a:ext cx="213969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Benefit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7532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More grounded, private and domain-specific responses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RAG = Retrieval + Augmentation + Generation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RAG has two major pipelines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One prepares knowledge. The other retrieves and uses it at question time.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1773936"/>
            <a:ext cx="40599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 Indexing / Ingestion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2834640"/>
            <a:ext cx="39319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Documents → chunks → embeddings → vector database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737360"/>
            <a:ext cx="4206240" cy="914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48272" y="1773936"/>
            <a:ext cx="4059936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2. Query / Retrieval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12280" y="2834640"/>
            <a:ext cx="3931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Question → query embedding → similarity search → context → LLM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Indexing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Convert source material into searchable semantic vectors.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85416"/>
            <a:ext cx="159105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Documents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487168" y="2423160"/>
            <a:ext cx="548640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27248" y="2148840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185416"/>
            <a:ext cx="159105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Chunking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74336" y="2423160"/>
            <a:ext cx="548640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4416" y="205740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2093976"/>
            <a:ext cx="1956816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Embedding Model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27264" y="2423160"/>
            <a:ext cx="548640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14884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2185416"/>
            <a:ext cx="1682496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Vector DB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160520"/>
            <a:ext cx="1024128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Example: a PDF is split into small chunks. Each chunk is converted into a numeric vector and stored with the original text and metadata.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 does the embedding model do?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It converts the meaning of text into coordinates in a high-dimensional vector space.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30175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002536"/>
            <a:ext cx="287121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“Go supports concurrency”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31920" y="2240280"/>
            <a:ext cx="777240" cy="292608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1783080"/>
            <a:ext cx="2743200" cy="1188720"/>
          </a:xfrm>
          <a:prstGeom prst="roundRect">
            <a:avLst>
              <a:gd name="adj" fmla="val 4615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1819656"/>
            <a:ext cx="2596896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Embedding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(nomic-embed-text)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09560" y="2240280"/>
            <a:ext cx="777240" cy="292608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0" y="19659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8552" y="2002536"/>
            <a:ext cx="236829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[0.21, -0.43, 0.78, …]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65960" y="4069080"/>
            <a:ext cx="82296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Similar meanings → nearby vectors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Different meanings → farther vectors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Vector database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Stores embeddings and performs nearest-neighbor search over semantic vectors.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591056"/>
            <a:ext cx="21396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Vector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9000" y="1554480"/>
            <a:ext cx="411480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591056"/>
            <a:ext cx="39684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Original chunk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18120" y="15544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91272" y="1591056"/>
            <a:ext cx="25968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Metadata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331720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68296"/>
            <a:ext cx="21396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[0.81, 0.72, …]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233172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368296"/>
            <a:ext cx="39684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Goroutines are lightweight…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818120" y="2331720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2368296"/>
            <a:ext cx="25968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go.pdf • p8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8680" y="3118104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154680"/>
            <a:ext cx="21396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[0.79, 0.75, …]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429000" y="3118104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3154680"/>
            <a:ext cx="39684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Channels allow goroutines…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818120" y="3118104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3154680"/>
            <a:ext cx="25968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go.pdf • p10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68680" y="3904488"/>
            <a:ext cx="2286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3941064"/>
            <a:ext cx="21396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[0.10, 0.08, …]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429000" y="3904488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941064"/>
            <a:ext cx="39684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Mangoes are sweet fruits…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818120" y="3904488"/>
            <a:ext cx="27432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3941064"/>
            <a:ext cx="259689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food.pdf • p3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5349240"/>
            <a:ext cx="95097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</a:rPr>
              <a:t>Common choices: Chroma • Qdrant • PostgreSQL + pgvector • FAISS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Query-time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Retrieve the most relevant evidence before asking the LLM to generate the final answer.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965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2002536"/>
            <a:ext cx="154533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User question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176272" y="2212848"/>
            <a:ext cx="384048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1965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2002536"/>
            <a:ext cx="154533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Embed query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6552" y="2212848"/>
            <a:ext cx="384048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965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002536"/>
            <a:ext cx="154533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Vector search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656832" y="2212848"/>
            <a:ext cx="384048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965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2002536"/>
            <a:ext cx="154533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Top-K chunks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897112" y="2212848"/>
            <a:ext cx="384048" cy="27432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72600" y="19659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2002536"/>
            <a:ext cx="154533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Ollama LLM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100584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The LLM does not search the vector database itself. Your application retrieves the chunks and constructs the augmented prompt.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Similarity search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How does RAG decide which chunks are relevant?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63040" y="1417320"/>
            <a:ext cx="9235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cosine similarity(A, B) = (A · B) / (||A|| ||B||)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916936"/>
            <a:ext cx="250545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Question vector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[0.80, 0.70, …]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25146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551176"/>
            <a:ext cx="21396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Chunk 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score = 0.94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0" y="365760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3694176"/>
            <a:ext cx="21396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Chunk 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score = 0.88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31089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3145536"/>
            <a:ext cx="213969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Chunk 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score = 0.21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5166360"/>
            <a:ext cx="56692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75569"/>
                </a:solidFill>
              </a:rPr>
              <a:t>Select the highest-scoring chunks (Top-K).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Prompt augmentation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Retrieved evidence is inserted into the prompt sent to the LLM.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53896"/>
            <a:ext cx="442569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System instruction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“Answer using the supplied context.”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4572000" cy="1234440"/>
          </a:xfrm>
          <a:prstGeom prst="roundRect">
            <a:avLst>
              <a:gd name="adj" fmla="val 4444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551176"/>
            <a:ext cx="4425696" cy="11612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Retrieved context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1. Goroutines are lightweight…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2. Channels allow communication…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069080"/>
            <a:ext cx="4572000" cy="822960"/>
          </a:xfrm>
          <a:prstGeom prst="roundRect">
            <a:avLst>
              <a:gd name="adj" fmla="val 6667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105656"/>
            <a:ext cx="442569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User question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“How does Go handle concurrency?”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623560" y="2880360"/>
            <a:ext cx="822960" cy="411480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468880"/>
            <a:ext cx="3383280" cy="1280160"/>
          </a:xfrm>
          <a:prstGeom prst="roundRect">
            <a:avLst>
              <a:gd name="adj" fmla="val 4286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6872" y="2505456"/>
            <a:ext cx="3236976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Ollama LLM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llama / qwen / gemma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03720" y="4160520"/>
            <a:ext cx="338328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5569"/>
                </a:solidFill>
              </a:rPr>
              <a:t>Final answer = model reasoning + retrieved context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Ollama-based RAG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Ollama can run both the embedding model and the generative model locally.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057400" cy="713232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545336"/>
            <a:ext cx="19110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PDF / DOCX / Web / DB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70048" y="1737360"/>
            <a:ext cx="41148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82112" y="1508760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55264" y="1545336"/>
            <a:ext cx="140817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Chunker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41148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67528" y="1371600"/>
            <a:ext cx="2286000" cy="960120"/>
          </a:xfrm>
          <a:prstGeom prst="roundRect">
            <a:avLst>
              <a:gd name="adj" fmla="val 5714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408176"/>
            <a:ext cx="2139696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Ollama Embeddings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nomic-embed-text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41148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50876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45336"/>
            <a:ext cx="16824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Vector DB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4360" y="38862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922776"/>
            <a:ext cx="177393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User Question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51760" y="4114800"/>
            <a:ext cx="41148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3886200"/>
            <a:ext cx="1828800" cy="713232"/>
          </a:xfrm>
          <a:prstGeom prst="roundRect">
            <a:avLst>
              <a:gd name="adj" fmla="val 7692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55264" y="3922776"/>
            <a:ext cx="168249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Query Embedding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38928" y="4114800"/>
            <a:ext cx="41148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886200"/>
            <a:ext cx="1920240" cy="713232"/>
          </a:xfrm>
          <a:prstGeom prst="roundRect">
            <a:avLst>
              <a:gd name="adj" fmla="val 7692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3922776"/>
            <a:ext cx="177393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Similarity Search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726680" y="4114800"/>
            <a:ext cx="41148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3886200"/>
            <a:ext cx="1874520" cy="713232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3922776"/>
            <a:ext cx="1728216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Top-K Context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5074920"/>
            <a:ext cx="2743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</a:rPr>
              <a:t>Top-K context + question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75120" y="5102352"/>
            <a:ext cx="502920" cy="256032"/>
          </a:xfrm>
          <a:prstGeom prst="rightArrow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4919472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34072" y="4956048"/>
            <a:ext cx="2642616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Ollama LLM → Answer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Responsibilities by component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common misconception: “Ollama implements RAG.” In reality, your application orchestrates the RAG workflow.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73936"/>
            <a:ext cx="241401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Ollama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5603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Run embedding model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Run generative LLM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00600" y="1737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3752" y="1773936"/>
            <a:ext cx="241401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Vector DB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800600" y="2743200"/>
            <a:ext cx="25603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Store vectors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Nearest-neighbor search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69680" y="1737360"/>
            <a:ext cx="256032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1773936"/>
            <a:ext cx="2414016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Your RAG App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869680" y="2743200"/>
            <a:ext cx="25603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Parse + chunk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Retrieve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Build prompt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• Return answer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Minimal implementation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simple learning stack that can later be scaled component by component.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865376"/>
            <a:ext cx="2414016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Python or Go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RAG application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069080" y="160020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EDE9F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2232" y="1636776"/>
            <a:ext cx="3511296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Ollama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LLM: llama / qwen / gemma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Embed: nomic-embed-text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03920" y="1828800"/>
            <a:ext cx="2834640" cy="1097280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7072" y="1865376"/>
            <a:ext cx="2688336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Chroma / Qdrant / pgvector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4069080"/>
            <a:ext cx="86868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172A"/>
                </a:solidFill>
              </a:rPr>
              <a:t>Docker can run the complete local stack.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Next: ingest a PDF → inspect chunks → generate embeddings → retrieve Top-K → build prompt → ask Ollama.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4652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Architecture</dc:title>
  <dc:subject>RAG Architecture with Ollama</dc:subject>
  <dc:creator>OpenAI</dc:creator>
  <cp:lastModifiedBy>OpenAI</cp:lastModifiedBy>
  <cp:revision>1</cp:revision>
  <dcterms:created xsi:type="dcterms:W3CDTF">2026-08-17T10:28:24Z</dcterms:created>
  <dcterms:modified xsi:type="dcterms:W3CDTF">2026-08-17T10:28:24Z</dcterms:modified>
</cp:coreProperties>
</file>