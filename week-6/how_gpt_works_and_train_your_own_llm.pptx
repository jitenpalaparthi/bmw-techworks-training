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1856232"/>
            <a:ext cx="11137392" cy="22860"/>
          </a:xfrm>
          <a:prstGeom prst="rect">
            <a:avLst/>
          </a:prstGeom>
          <a:solidFill>
            <a:srgbClr val="5B8CFF"/>
          </a:solidFill>
          <a:ln w="12700">
            <a:solidFill>
              <a:srgbClr val="5B8C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786384"/>
            <a:ext cx="10698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GPT WORKS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85216" y="1664208"/>
            <a:ext cx="10058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how to train your own small LLM — step by step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585216" y="2331720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→ Tokens → Attention → Pretraining → Instruction Tuning → Evaluation → Inference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3685032"/>
            <a:ext cx="1417320" cy="658368"/>
          </a:xfrm>
          <a:prstGeom prst="roundRect">
            <a:avLst>
              <a:gd name="adj" fmla="val 16667"/>
            </a:avLst>
          </a:prstGeom>
          <a:solidFill>
            <a:srgbClr val="141B33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3867912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039112" y="384048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386584" y="3685032"/>
            <a:ext cx="1417320" cy="658368"/>
          </a:xfrm>
          <a:prstGeom prst="roundRect">
            <a:avLst>
              <a:gd name="adj" fmla="val 16667"/>
            </a:avLst>
          </a:prstGeom>
          <a:solidFill>
            <a:srgbClr val="141B33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9736" y="3867912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31336" y="384048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178808" y="3685032"/>
            <a:ext cx="1417320" cy="658368"/>
          </a:xfrm>
          <a:prstGeom prst="roundRect">
            <a:avLst>
              <a:gd name="adj" fmla="val 16667"/>
            </a:avLst>
          </a:prstGeom>
          <a:solidFill>
            <a:srgbClr val="141B33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3867912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623560" y="384048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71032" y="3685032"/>
            <a:ext cx="1417320" cy="658368"/>
          </a:xfrm>
          <a:prstGeom prst="roundRect">
            <a:avLst>
              <a:gd name="adj" fmla="val 16667"/>
            </a:avLst>
          </a:prstGeom>
          <a:solidFill>
            <a:srgbClr val="141B33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44184" y="3867912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 × 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415784" y="384048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7763256" y="3685032"/>
            <a:ext cx="1417320" cy="658368"/>
          </a:xfrm>
          <a:prstGeom prst="roundRect">
            <a:avLst>
              <a:gd name="adj" fmla="val 16667"/>
            </a:avLst>
          </a:prstGeom>
          <a:solidFill>
            <a:srgbClr val="141B33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36408" y="3867912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Logits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08008" y="3840480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9555480" y="3685032"/>
            <a:ext cx="1417320" cy="658368"/>
          </a:xfrm>
          <a:prstGeom prst="roundRect">
            <a:avLst>
              <a:gd name="adj" fmla="val 16667"/>
            </a:avLst>
          </a:prstGeom>
          <a:solidFill>
            <a:srgbClr val="141B33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28632" y="3867912"/>
            <a:ext cx="12710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token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94360" y="4983480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understand the mechanism first, then build a tiny decoder-only model you can actually train.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594360" y="59893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deck • fundamentals → architecture → training → post-training → inference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320272" y="64282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GPT?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527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= Generative Pre-trained Transformer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0352" y="2176272"/>
            <a:ext cx="3337560" cy="3154680"/>
          </a:xfrm>
          <a:prstGeom prst="roundRect">
            <a:avLst>
              <a:gd name="adj" fmla="val 3478"/>
            </a:avLst>
          </a:prstGeom>
          <a:solidFill>
            <a:srgbClr val="141B33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244144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B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86384" y="3063240"/>
            <a:ext cx="2743200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9550" indent="-209550">
              <a:buSzPct val="100000"/>
              <a:buChar char="•"/>
            </a:pPr>
            <a:r>
              <a:rPr lang="en-US" sz="15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Produces new text</a:t>
            </a:r>
            <a:endParaRPr lang="en-US" sz="1500" dirty="0"/>
          </a:p>
          <a:p>
            <a:pPr marL="209550" indent="-209550">
              <a:buSzPct val="100000"/>
              <a:buChar char="•"/>
            </a:pPr>
            <a:r>
              <a:rPr lang="en-US" sz="15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Predicts one token at a time</a:t>
            </a:r>
            <a:endParaRPr lang="en-US" sz="1500" dirty="0"/>
          </a:p>
          <a:p>
            <a:pPr marL="209550" indent="-209550">
              <a:buSzPct val="100000"/>
              <a:buChar char="•"/>
            </a:pPr>
            <a:r>
              <a:rPr lang="en-US" sz="15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turns probabilities into output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07408" y="2176272"/>
            <a:ext cx="3337560" cy="3154680"/>
          </a:xfrm>
          <a:prstGeom prst="roundRect">
            <a:avLst>
              <a:gd name="adj" fmla="val 3478"/>
            </a:avLst>
          </a:prstGeom>
          <a:solidFill>
            <a:srgbClr val="141B33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45152" y="244144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9B7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Pre-trained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63440" y="3063240"/>
            <a:ext cx="2743200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9550" indent="-209550">
              <a:buSzPct val="100000"/>
              <a:buChar char="•"/>
            </a:pPr>
            <a:r>
              <a:rPr lang="en-US" sz="15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Learns from large unlabeled corpora</a:t>
            </a:r>
            <a:endParaRPr lang="en-US" sz="1500" dirty="0"/>
          </a:p>
          <a:p>
            <a:pPr marL="209550" indent="-209550">
              <a:buSzPct val="100000"/>
              <a:buChar char="•"/>
            </a:pPr>
            <a:r>
              <a:rPr lang="en-US" sz="15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Objective: next-token prediction</a:t>
            </a:r>
            <a:endParaRPr lang="en-US" sz="1500" dirty="0"/>
          </a:p>
          <a:p>
            <a:pPr marL="209550" indent="-209550">
              <a:buSzPct val="100000"/>
              <a:buChar char="•"/>
            </a:pPr>
            <a:r>
              <a:rPr lang="en-US" sz="15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is encoded into weights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275320" y="2176272"/>
            <a:ext cx="3337560" cy="3154680"/>
          </a:xfrm>
          <a:prstGeom prst="roundRect">
            <a:avLst>
              <a:gd name="adj" fmla="val 3478"/>
            </a:avLst>
          </a:prstGeom>
          <a:solidFill>
            <a:srgbClr val="141B33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13064" y="244144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FD1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Transformer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531352" y="3063240"/>
            <a:ext cx="2743200" cy="1783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209550" indent="-209550">
              <a:buSzPct val="100000"/>
              <a:buChar char="•"/>
            </a:pPr>
            <a:r>
              <a:rPr lang="en-US" sz="15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Self-attention mixes context</a:t>
            </a:r>
            <a:endParaRPr lang="en-US" sz="1500" dirty="0"/>
          </a:p>
          <a:p>
            <a:pPr marL="209550" indent="-209550">
              <a:buSzPct val="100000"/>
              <a:buChar char="•"/>
            </a:pPr>
            <a:r>
              <a:rPr lang="en-US" sz="15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Feed-forward layers transform features</a:t>
            </a:r>
            <a:endParaRPr lang="en-US" sz="1500" dirty="0"/>
          </a:p>
          <a:p>
            <a:pPr marL="209550" indent="-209550">
              <a:buSzPct val="100000"/>
              <a:buChar char="•"/>
            </a:pPr>
            <a:r>
              <a:rPr lang="en-US" sz="15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Residual paths + normalization stabilize deep networks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IDEA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GPT is fundamentally a next-token predictor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527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repeatedly estimates P(next token | previous tokens).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2240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64208" y="2112264"/>
            <a:ext cx="7543800" cy="621792"/>
          </a:xfrm>
          <a:prstGeom prst="roundRect">
            <a:avLst>
              <a:gd name="adj" fmla="val 17647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74520" y="227685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capital of France is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58368" y="30632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probabilities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41248" y="358444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Paris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84832" y="3584448"/>
            <a:ext cx="7040880" cy="256032"/>
          </a:xfrm>
          <a:prstGeom prst="roundRect">
            <a:avLst>
              <a:gd name="adj" fmla="val 42857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1992" y="3639312"/>
            <a:ext cx="5436108" cy="137160"/>
          </a:xfrm>
          <a:prstGeom prst="roundRect">
            <a:avLst/>
          </a:prstGeom>
          <a:solidFill>
            <a:srgbClr val="4FD1A1"/>
          </a:solidFill>
          <a:ln w="12700">
            <a:solidFill>
              <a:srgbClr val="4FD1A1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81160" y="3584448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82%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1248" y="415137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Lyon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084832" y="4151376"/>
            <a:ext cx="7040880" cy="256032"/>
          </a:xfrm>
          <a:prstGeom prst="roundRect">
            <a:avLst>
              <a:gd name="adj" fmla="val 42857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1992" y="4206240"/>
            <a:ext cx="397764" cy="137160"/>
          </a:xfrm>
          <a:prstGeom prst="roundRect">
            <a:avLst/>
          </a:prstGeom>
          <a:solidFill>
            <a:srgbClr val="FFB454"/>
          </a:solidFill>
          <a:ln w="12700">
            <a:solidFill>
              <a:srgbClr val="FFB454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81160" y="4151376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1248" y="471830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France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084832" y="4718304"/>
            <a:ext cx="7040880" cy="256032"/>
          </a:xfrm>
          <a:prstGeom prst="roundRect">
            <a:avLst>
              <a:gd name="adj" fmla="val 42857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1992" y="4773168"/>
            <a:ext cx="265176" cy="137160"/>
          </a:xfrm>
          <a:prstGeom prst="roundRect">
            <a:avLst/>
          </a:prstGeom>
          <a:solidFill>
            <a:srgbClr val="9B7BFF"/>
          </a:solidFill>
          <a:ln w="12700">
            <a:solidFill>
              <a:srgbClr val="9B7B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81160" y="4718304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41248" y="52852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London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084832" y="5285232"/>
            <a:ext cx="7040880" cy="256032"/>
          </a:xfrm>
          <a:prstGeom prst="roundRect">
            <a:avLst>
              <a:gd name="adj" fmla="val 42857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1992" y="5340096"/>
            <a:ext cx="132588" cy="137160"/>
          </a:xfrm>
          <a:prstGeom prst="roundRect">
            <a:avLst/>
          </a:prstGeom>
          <a:solidFill>
            <a:srgbClr val="FF6B7A"/>
          </a:solidFill>
          <a:ln w="12700">
            <a:solidFill>
              <a:srgbClr val="FF6B7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81160" y="528523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2%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8368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Select/sample “Paris” → append it → run the model again for the next token.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TOKENIZATION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From characters to tokens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527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LLMs do not read words directly. A tokenizer converts text into integer token IDs.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1792" y="2286000"/>
            <a:ext cx="3886200" cy="1051560"/>
          </a:xfrm>
          <a:prstGeom prst="roundRect">
            <a:avLst>
              <a:gd name="adj" fmla="val 10435"/>
            </a:avLst>
          </a:prstGeom>
          <a:solidFill>
            <a:srgbClr val="141B33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9689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"unbelievable!"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617720" y="2651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 tokenizer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99632" y="2194560"/>
            <a:ext cx="5010912" cy="1234440"/>
          </a:xfrm>
          <a:prstGeom prst="roundRect">
            <a:avLst>
              <a:gd name="adj" fmla="val 8889"/>
            </a:avLst>
          </a:prstGeom>
          <a:solidFill>
            <a:srgbClr val="141B33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28232" y="2505456"/>
            <a:ext cx="932688" cy="566928"/>
          </a:xfrm>
          <a:prstGeom prst="roundRect">
            <a:avLst>
              <a:gd name="adj" fmla="val 19355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54203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73952" y="281635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507224" y="2505456"/>
            <a:ext cx="932688" cy="566928"/>
          </a:xfrm>
          <a:prstGeom prst="roundRect">
            <a:avLst>
              <a:gd name="adj" fmla="val 19355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52944" y="254203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believ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52944" y="281635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9124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586216" y="2505456"/>
            <a:ext cx="932688" cy="566928"/>
          </a:xfrm>
          <a:prstGeom prst="roundRect">
            <a:avLst>
              <a:gd name="adj" fmla="val 19355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31936" y="254203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able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31936" y="281635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9665208" y="2505456"/>
            <a:ext cx="932688" cy="566928"/>
          </a:xfrm>
          <a:prstGeom prst="roundRect">
            <a:avLst>
              <a:gd name="adj" fmla="val 19355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10928" y="2542032"/>
            <a:ext cx="841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710928" y="2816352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1792" y="4023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choices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31520" y="4480560"/>
            <a:ext cx="429768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BPE (Byte Pair Encoding)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Unigram / SentencePiece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Byte-level tokenization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Vocabulary often tens of thousands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26480" y="40233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tokenization matters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36208" y="4480560"/>
            <a:ext cx="448056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Controls sequence length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Affects multilingual behavior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Changes compute and memory cost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the output vocabulary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Tokens become vectors: embeddings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527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token ID indexes a learned vector. Positional information tells the model where the token occurs.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22677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IDs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" y="2743200"/>
            <a:ext cx="859536" cy="475488"/>
          </a:xfrm>
          <a:prstGeom prst="roundRect">
            <a:avLst>
              <a:gd name="adj" fmla="val 23077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2871216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764792" y="2743200"/>
            <a:ext cx="859536" cy="475488"/>
          </a:xfrm>
          <a:prstGeom prst="roundRect">
            <a:avLst>
              <a:gd name="adj" fmla="val 23077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10512" y="2871216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9124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07792" y="2743200"/>
            <a:ext cx="859536" cy="475488"/>
          </a:xfrm>
          <a:prstGeom prst="roundRect">
            <a:avLst>
              <a:gd name="adj" fmla="val 23077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53512" y="2871216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50792" y="2743200"/>
            <a:ext cx="859536" cy="475488"/>
          </a:xfrm>
          <a:prstGeom prst="roundRect">
            <a:avLst>
              <a:gd name="adj" fmla="val 23077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96512" y="2871216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38928" y="28346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669280" y="2304288"/>
            <a:ext cx="5084064" cy="1600200"/>
          </a:xfrm>
          <a:prstGeom prst="roundRect">
            <a:avLst>
              <a:gd name="adj" fmla="val 6857"/>
            </a:avLst>
          </a:prstGeom>
          <a:solidFill>
            <a:srgbClr val="141B33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25328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B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matrix  V × d_model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35040" y="2971800"/>
            <a:ext cx="658368" cy="182880"/>
          </a:xfrm>
          <a:prstGeom prst="roundRect">
            <a:avLst>
              <a:gd name="adj" fmla="val 60000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44184" y="2994660"/>
            <a:ext cx="630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0.18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830568" y="2971800"/>
            <a:ext cx="658368" cy="182880"/>
          </a:xfrm>
          <a:prstGeom prst="roundRect">
            <a:avLst>
              <a:gd name="adj" fmla="val 60000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9712" y="2994660"/>
            <a:ext cx="630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-0.42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626096" y="2971800"/>
            <a:ext cx="658368" cy="182880"/>
          </a:xfrm>
          <a:prstGeom prst="roundRect">
            <a:avLst>
              <a:gd name="adj" fmla="val 60000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35240" y="2994660"/>
            <a:ext cx="630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0.09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421624" y="2971800"/>
            <a:ext cx="658368" cy="182880"/>
          </a:xfrm>
          <a:prstGeom prst="roundRect">
            <a:avLst>
              <a:gd name="adj" fmla="val 60000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30768" y="2994660"/>
            <a:ext cx="630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217152" y="2971800"/>
            <a:ext cx="658368" cy="182880"/>
          </a:xfrm>
          <a:prstGeom prst="roundRect">
            <a:avLst>
              <a:gd name="adj" fmla="val 60000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26296" y="2994660"/>
            <a:ext cx="630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0.31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035040" y="3191256"/>
            <a:ext cx="658368" cy="182880"/>
          </a:xfrm>
          <a:prstGeom prst="roundRect">
            <a:avLst>
              <a:gd name="adj" fmla="val 60000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44184" y="3214116"/>
            <a:ext cx="630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-0.11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830568" y="3191256"/>
            <a:ext cx="658368" cy="182880"/>
          </a:xfrm>
          <a:prstGeom prst="roundRect">
            <a:avLst>
              <a:gd name="adj" fmla="val 60000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39712" y="3214116"/>
            <a:ext cx="630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0.27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626096" y="3191256"/>
            <a:ext cx="658368" cy="182880"/>
          </a:xfrm>
          <a:prstGeom prst="roundRect">
            <a:avLst>
              <a:gd name="adj" fmla="val 60000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3214116"/>
            <a:ext cx="630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0.52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421624" y="3191256"/>
            <a:ext cx="658368" cy="182880"/>
          </a:xfrm>
          <a:prstGeom prst="roundRect">
            <a:avLst>
              <a:gd name="adj" fmla="val 60000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430768" y="3214116"/>
            <a:ext cx="630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9217152" y="3191256"/>
            <a:ext cx="658368" cy="182880"/>
          </a:xfrm>
          <a:prstGeom prst="roundRect">
            <a:avLst>
              <a:gd name="adj" fmla="val 60000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226296" y="3214116"/>
            <a:ext cx="630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-0.08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035040" y="3410712"/>
            <a:ext cx="658368" cy="182880"/>
          </a:xfrm>
          <a:prstGeom prst="roundRect">
            <a:avLst>
              <a:gd name="adj" fmla="val 60000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44184" y="3433572"/>
            <a:ext cx="630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0.40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830568" y="3410712"/>
            <a:ext cx="658368" cy="182880"/>
          </a:xfrm>
          <a:prstGeom prst="roundRect">
            <a:avLst>
              <a:gd name="adj" fmla="val 60000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39712" y="3433572"/>
            <a:ext cx="630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-0.05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626096" y="3410712"/>
            <a:ext cx="658368" cy="182880"/>
          </a:xfrm>
          <a:prstGeom prst="roundRect">
            <a:avLst>
              <a:gd name="adj" fmla="val 60000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35240" y="3433572"/>
            <a:ext cx="630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0.19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421624" y="3410712"/>
            <a:ext cx="658368" cy="182880"/>
          </a:xfrm>
          <a:prstGeom prst="roundRect">
            <a:avLst>
              <a:gd name="adj" fmla="val 60000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30768" y="3433572"/>
            <a:ext cx="630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217152" y="3410712"/>
            <a:ext cx="658368" cy="182880"/>
          </a:xfrm>
          <a:prstGeom prst="roundRect">
            <a:avLst>
              <a:gd name="adj" fmla="val 60000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226296" y="3433572"/>
            <a:ext cx="630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0.21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035040" y="3630168"/>
            <a:ext cx="658368" cy="182880"/>
          </a:xfrm>
          <a:prstGeom prst="roundRect">
            <a:avLst>
              <a:gd name="adj" fmla="val 60000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44184" y="3653028"/>
            <a:ext cx="630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0.02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830568" y="3630168"/>
            <a:ext cx="658368" cy="182880"/>
          </a:xfrm>
          <a:prstGeom prst="roundRect">
            <a:avLst>
              <a:gd name="adj" fmla="val 60000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839712" y="3653028"/>
            <a:ext cx="630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0.16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7626096" y="3630168"/>
            <a:ext cx="658368" cy="182880"/>
          </a:xfrm>
          <a:prstGeom prst="roundRect">
            <a:avLst>
              <a:gd name="adj" fmla="val 60000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635240" y="3653028"/>
            <a:ext cx="630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-0.33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8421624" y="3630168"/>
            <a:ext cx="658368" cy="182880"/>
          </a:xfrm>
          <a:prstGeom prst="roundRect">
            <a:avLst>
              <a:gd name="adj" fmla="val 60000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430768" y="3653028"/>
            <a:ext cx="630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9217152" y="3630168"/>
            <a:ext cx="658368" cy="182880"/>
          </a:xfrm>
          <a:prstGeom prst="roundRect">
            <a:avLst>
              <a:gd name="adj" fmla="val 60000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226296" y="3653028"/>
            <a:ext cx="6309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0.47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94360" y="461772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input representation ≈ token embedding + positional signal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594360" y="5230368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Dimension d_model might be 384 in a tiny model and much larger in production models.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Transformer block: the engine of GPT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527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decoder-only Transformer repeats the same high-level block many times.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794760" y="2176272"/>
            <a:ext cx="4663440" cy="365760"/>
          </a:xfrm>
          <a:prstGeom prst="roundRect">
            <a:avLst>
              <a:gd name="adj" fmla="val 30000"/>
            </a:avLst>
          </a:prstGeom>
          <a:solidFill>
            <a:srgbClr val="141B33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0" y="224942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 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25312" y="25328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794760" y="2706624"/>
            <a:ext cx="4663440" cy="365760"/>
          </a:xfrm>
          <a:prstGeom prst="roundRect">
            <a:avLst>
              <a:gd name="adj" fmla="val 30000"/>
            </a:avLst>
          </a:prstGeom>
          <a:solidFill>
            <a:srgbClr val="141B33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277977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LayerNorm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25312" y="306324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794760" y="3236976"/>
            <a:ext cx="4663440" cy="365760"/>
          </a:xfrm>
          <a:prstGeom prst="roundRect">
            <a:avLst>
              <a:gd name="adj" fmla="val 30000"/>
            </a:avLst>
          </a:prstGeom>
          <a:solidFill>
            <a:srgbClr val="141B33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0" y="331012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Masked self-attention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25312" y="359359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3794760" y="3767328"/>
            <a:ext cx="4663440" cy="365760"/>
          </a:xfrm>
          <a:prstGeom prst="roundRect">
            <a:avLst>
              <a:gd name="adj" fmla="val 30000"/>
            </a:avLst>
          </a:prstGeom>
          <a:solidFill>
            <a:srgbClr val="141B33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384048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Residual add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925312" y="41239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3794760" y="4297680"/>
            <a:ext cx="4663440" cy="365760"/>
          </a:xfrm>
          <a:prstGeom prst="roundRect">
            <a:avLst>
              <a:gd name="adj" fmla="val 30000"/>
            </a:avLst>
          </a:prstGeom>
          <a:solidFill>
            <a:srgbClr val="141B33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931920" y="437083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LayerNorm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25312" y="465429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3794760" y="4828032"/>
            <a:ext cx="4663440" cy="365760"/>
          </a:xfrm>
          <a:prstGeom prst="roundRect">
            <a:avLst>
              <a:gd name="adj" fmla="val 30000"/>
            </a:avLst>
          </a:prstGeom>
          <a:solidFill>
            <a:srgbClr val="141B33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0" y="4901184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MLP / FFN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25312" y="51846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794760" y="5358384"/>
            <a:ext cx="4663440" cy="365760"/>
          </a:xfrm>
          <a:prstGeom prst="roundRect">
            <a:avLst>
              <a:gd name="adj" fmla="val 30000"/>
            </a:avLst>
          </a:prstGeom>
          <a:solidFill>
            <a:srgbClr val="141B33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31920" y="543153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Residual add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887968" y="344728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× N layers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41248" y="598932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causal mask prevents a token from seeing future tokens.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Self-attention with a concrete example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527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lets each token decide which earlier tokens are relevant.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85216" y="2212848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Sentence: “The animal did not cross the street because it was tired.”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85216" y="2907792"/>
            <a:ext cx="850392" cy="429768"/>
          </a:xfrm>
          <a:prstGeom prst="roundRect">
            <a:avLst>
              <a:gd name="adj" fmla="val 25532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3026664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572768" y="2907792"/>
            <a:ext cx="850392" cy="429768"/>
          </a:xfrm>
          <a:prstGeom prst="roundRect">
            <a:avLst>
              <a:gd name="adj" fmla="val 25532"/>
            </a:avLst>
          </a:prstGeom>
          <a:solidFill>
            <a:srgbClr val="4FD1A1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3026664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2907792"/>
            <a:ext cx="850392" cy="429768"/>
          </a:xfrm>
          <a:prstGeom prst="roundRect">
            <a:avLst>
              <a:gd name="adj" fmla="val 25532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3026664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547872" y="2907792"/>
            <a:ext cx="850392" cy="429768"/>
          </a:xfrm>
          <a:prstGeom prst="roundRect">
            <a:avLst>
              <a:gd name="adj" fmla="val 25532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75304" y="3026664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35424" y="2907792"/>
            <a:ext cx="850392" cy="429768"/>
          </a:xfrm>
          <a:prstGeom prst="roundRect">
            <a:avLst>
              <a:gd name="adj" fmla="val 25532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62856" y="3026664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22976" y="2907792"/>
            <a:ext cx="850392" cy="429768"/>
          </a:xfrm>
          <a:prstGeom prst="roundRect">
            <a:avLst>
              <a:gd name="adj" fmla="val 25532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50408" y="3026664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10528" y="2907792"/>
            <a:ext cx="850392" cy="429768"/>
          </a:xfrm>
          <a:prstGeom prst="roundRect">
            <a:avLst>
              <a:gd name="adj" fmla="val 25532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3026664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street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498080" y="2907792"/>
            <a:ext cx="850392" cy="429768"/>
          </a:xfrm>
          <a:prstGeom prst="roundRect">
            <a:avLst>
              <a:gd name="adj" fmla="val 25532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25512" y="3026664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because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485632" y="2907792"/>
            <a:ext cx="850392" cy="429768"/>
          </a:xfrm>
          <a:prstGeom prst="roundRect">
            <a:avLst>
              <a:gd name="adj" fmla="val 25532"/>
            </a:avLst>
          </a:prstGeom>
          <a:solidFill>
            <a:srgbClr val="4DD0E1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13064" y="3026664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473184" y="2907792"/>
            <a:ext cx="850392" cy="429768"/>
          </a:xfrm>
          <a:prstGeom prst="roundRect">
            <a:avLst>
              <a:gd name="adj" fmla="val 25532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500616" y="3026664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0460736" y="2907792"/>
            <a:ext cx="850392" cy="429768"/>
          </a:xfrm>
          <a:prstGeom prst="roundRect">
            <a:avLst>
              <a:gd name="adj" fmla="val 25532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488168" y="3026664"/>
            <a:ext cx="795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tired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5216" y="37673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processing “it”, one attention head can assign high weight to “animal”.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1417320" y="4526280"/>
            <a:ext cx="9235440" cy="850392"/>
          </a:xfrm>
          <a:prstGeom prst="roundRect">
            <a:avLst>
              <a:gd name="adj" fmla="val 12903"/>
            </a:avLst>
          </a:prstGeom>
          <a:solidFill>
            <a:srgbClr val="141B33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37360" y="4700016"/>
            <a:ext cx="85953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 = XWq      K = XWk      V = XWv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691640" y="5029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Attention(Q,K,V) = softmax(QKᵀ / √dₖ + causal_mask) V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85216" y="587044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Multi-head attention learns several relationship types in parallel.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 MASK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Why the attention mask is essential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527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must learn to predict the future without cheating during training.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61488" y="222199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46120" y="222199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T2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730752" y="222199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15384" y="222199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00016" y="222199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84648" y="2221992"/>
            <a:ext cx="484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T6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194560" y="2542032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T1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61488" y="2542032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61488" y="26334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46120" y="2542032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6120" y="26334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30752" y="2542032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0752" y="26334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15384" y="2542032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15384" y="26334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0016" y="2542032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0016" y="26334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84648" y="2542032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84648" y="263347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94560" y="3026664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61488" y="3026664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61488" y="311810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246120" y="3026664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311810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730752" y="3026664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30752" y="311810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215384" y="3026664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15384" y="311810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700016" y="3026664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0016" y="311810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184648" y="3026664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84648" y="3118104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194560" y="3511296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T3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61488" y="3511296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61488" y="360273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246120" y="3511296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46120" y="360273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3730752" y="3511296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30752" y="360273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215384" y="3511296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215384" y="360273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700016" y="3511296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00016" y="360273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184648" y="3511296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184648" y="360273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194560" y="3995928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T4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2761488" y="3995928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61488" y="408736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3246120" y="3995928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46120" y="408736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3730752" y="3995928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30752" y="408736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215384" y="3995928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15384" y="408736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700016" y="3995928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00016" y="408736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5184648" y="3995928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84648" y="4087368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2194560" y="4480560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T5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761488" y="4480560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61488" y="45720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3246120" y="4480560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46120" y="45720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3730752" y="4480560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730752" y="45720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4215384" y="4480560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15384" y="45720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4700016" y="4480560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0016" y="45720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5184648" y="4480560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184648" y="4572000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2194560" y="4965192"/>
            <a:ext cx="420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T6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2761488" y="4965192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761488" y="50566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79" name="Shape 77"/>
          <p:cNvSpPr/>
          <p:nvPr/>
        </p:nvSpPr>
        <p:spPr>
          <a:xfrm>
            <a:off x="3246120" y="4965192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246120" y="50566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81" name="Shape 79"/>
          <p:cNvSpPr/>
          <p:nvPr/>
        </p:nvSpPr>
        <p:spPr>
          <a:xfrm>
            <a:off x="3730752" y="4965192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730752" y="50566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83" name="Shape 81"/>
          <p:cNvSpPr/>
          <p:nvPr/>
        </p:nvSpPr>
        <p:spPr>
          <a:xfrm>
            <a:off x="4215384" y="4965192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215384" y="50566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85" name="Shape 83"/>
          <p:cNvSpPr/>
          <p:nvPr/>
        </p:nvSpPr>
        <p:spPr>
          <a:xfrm>
            <a:off x="4700016" y="4965192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700016" y="50566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5184648" y="4965192"/>
            <a:ext cx="411480" cy="411480"/>
          </a:xfrm>
          <a:prstGeom prst="roundRect">
            <a:avLst>
              <a:gd name="adj" fmla="val 26667"/>
            </a:avLst>
          </a:prstGeom>
          <a:solidFill>
            <a:srgbClr val="10172B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184648" y="5056632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FD1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200" dirty="0"/>
          </a:p>
        </p:txBody>
      </p:sp>
      <p:sp>
        <p:nvSpPr>
          <p:cNvPr id="89" name="Text 87"/>
          <p:cNvSpPr/>
          <p:nvPr/>
        </p:nvSpPr>
        <p:spPr>
          <a:xfrm>
            <a:off x="6565392" y="27432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 = current token</a:t>
            </a:r>
            <a:endParaRPr lang="en-US" sz="1500" dirty="0"/>
          </a:p>
        </p:txBody>
      </p:sp>
      <p:sp>
        <p:nvSpPr>
          <p:cNvPr id="90" name="Text 88"/>
          <p:cNvSpPr/>
          <p:nvPr/>
        </p:nvSpPr>
        <p:spPr>
          <a:xfrm>
            <a:off x="6565392" y="3246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Columns to the right are hidden.</a:t>
            </a:r>
            <a:endParaRPr lang="en-US" sz="1400" dirty="0"/>
          </a:p>
        </p:txBody>
      </p:sp>
      <p:sp>
        <p:nvSpPr>
          <p:cNvPr id="91" name="Text 89"/>
          <p:cNvSpPr/>
          <p:nvPr/>
        </p:nvSpPr>
        <p:spPr>
          <a:xfrm>
            <a:off x="6565392" y="3977640"/>
            <a:ext cx="3794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inference, future tokens do not exist. Causal training matches that exact constraint.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HEAD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From hidden state to next-token probabilities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527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hidden vector is projected back to vocabulary size.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1719072" cy="1033272"/>
          </a:xfrm>
          <a:prstGeom prst="roundRect">
            <a:avLst>
              <a:gd name="adj" fmla="val 10619"/>
            </a:avLst>
          </a:prstGeom>
          <a:solidFill>
            <a:srgbClr val="141B33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30175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hidden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395728" y="31729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816352" y="2788920"/>
            <a:ext cx="1719072" cy="1033272"/>
          </a:xfrm>
          <a:prstGeom prst="roundRect">
            <a:avLst>
              <a:gd name="adj" fmla="val 10619"/>
            </a:avLst>
          </a:prstGeom>
          <a:solidFill>
            <a:srgbClr val="141B33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30175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layer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W_vocab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0" y="31729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4992624" y="2788920"/>
            <a:ext cx="1719072" cy="1033272"/>
          </a:xfrm>
          <a:prstGeom prst="roundRect">
            <a:avLst>
              <a:gd name="adj" fmla="val 10619"/>
            </a:avLst>
          </a:prstGeom>
          <a:solidFill>
            <a:srgbClr val="141B33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02352" y="30175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[V]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48272" y="31729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168896" y="2788920"/>
            <a:ext cx="1719072" cy="1033272"/>
          </a:xfrm>
          <a:prstGeom prst="roundRect">
            <a:avLst>
              <a:gd name="adj" fmla="val 10619"/>
            </a:avLst>
          </a:prstGeom>
          <a:solidFill>
            <a:srgbClr val="141B33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78624" y="30175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Softmax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924544" y="317296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9345168" y="2788920"/>
            <a:ext cx="1719072" cy="1033272"/>
          </a:xfrm>
          <a:prstGeom prst="roundRect">
            <a:avLst>
              <a:gd name="adj" fmla="val 10619"/>
            </a:avLst>
          </a:prstGeom>
          <a:solidFill>
            <a:srgbClr val="141B33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54896" y="30175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Probability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" y="46451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compares this distribution with the true next token using cross-entropy loss.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58368" y="53035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Backpropagation computes gradients; the optimizer updates the parameters.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LOOP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 What “training” actually means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527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Repeatedly minimize next-token prediction loss over a huge number of token sequences.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240280"/>
            <a:ext cx="5074920" cy="3182112"/>
          </a:xfrm>
          <a:prstGeom prst="roundRect">
            <a:avLst>
              <a:gd name="adj" fmla="val 3448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2514600"/>
            <a:ext cx="4526280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batch in dataloader: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= tokens[:, :-1]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= tokens[:, 1:]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logits = model(x)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loss = cross_entropy(logits, y)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loss.backward()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optimizer.step()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optimizer.zero_grad()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0" y="2267712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changes?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2852928"/>
            <a:ext cx="429768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 weights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projections Wq/Wk/Wv/Wo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MLP weights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Normalization parameters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projection / tied embeddings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4983480"/>
            <a:ext cx="4434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corpus is not a searchable database inside the model. Gradient descent alters weights so statistical patterns can be reproduced.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 Start your own LLM: choose the goal first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527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There are two very different projects: learning from scratch vs. building a useful product.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212848"/>
            <a:ext cx="5047488" cy="3218688"/>
          </a:xfrm>
          <a:prstGeom prst="roundRect">
            <a:avLst>
              <a:gd name="adj" fmla="val 3409"/>
            </a:avLst>
          </a:prstGeom>
          <a:solidFill>
            <a:srgbClr val="141B33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4871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5B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Train from scratch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41248" y="3063240"/>
            <a:ext cx="4206240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 understanding architecture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small model: ~10M–150M parameters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on a controlled corpus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run on one or a few GPUs depending on size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own tokenizer, weights, and data pipeline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583680" y="2212848"/>
            <a:ext cx="5047488" cy="3218688"/>
          </a:xfrm>
          <a:prstGeom prst="roundRect">
            <a:avLst>
              <a:gd name="adj" fmla="val 3409"/>
            </a:avLst>
          </a:prstGeom>
          <a:solidFill>
            <a:srgbClr val="141B33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39712" y="248716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FD1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Adapt a pretrained model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58000" y="3063240"/>
            <a:ext cx="4206240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for production usefulness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Fine-tune with LoRA / QLoRA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Needs far less compute and data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Retains broad language knowledge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the practical route for domain assistants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FROM SCRATCH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11. Step 1 — collect and clean training data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527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 often matters more than adding another model trick.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41248" y="2240280"/>
            <a:ext cx="10149840" cy="530352"/>
          </a:xfrm>
          <a:prstGeom prst="roundRect">
            <a:avLst>
              <a:gd name="adj" fmla="val 20690"/>
            </a:avLst>
          </a:prstGeom>
          <a:solidFill>
            <a:srgbClr val="141B33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42416" y="2368296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816352" y="2368296"/>
            <a:ext cx="7818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Books, docs, code, web text, domain corpus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41248" y="2953512"/>
            <a:ext cx="10149840" cy="530352"/>
          </a:xfrm>
          <a:prstGeom prst="roundRect">
            <a:avLst>
              <a:gd name="adj" fmla="val 20690"/>
            </a:avLst>
          </a:prstGeom>
          <a:solidFill>
            <a:srgbClr val="141B33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2416" y="3081528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9B7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16352" y="3081528"/>
            <a:ext cx="7818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spam, boilerplate, low-quality text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1248" y="3666744"/>
            <a:ext cx="10149840" cy="530352"/>
          </a:xfrm>
          <a:prstGeom prst="roundRect">
            <a:avLst>
              <a:gd name="adj" fmla="val 20690"/>
            </a:avLst>
          </a:prstGeom>
          <a:solidFill>
            <a:srgbClr val="141B33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42416" y="379476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Deduplicate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16352" y="3794760"/>
            <a:ext cx="7818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+ near-duplicate detection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41248" y="4379976"/>
            <a:ext cx="10149840" cy="530352"/>
          </a:xfrm>
          <a:prstGeom prst="roundRect">
            <a:avLst>
              <a:gd name="adj" fmla="val 20690"/>
            </a:avLst>
          </a:prstGeom>
          <a:solidFill>
            <a:srgbClr val="141B33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2416" y="45079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FD1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816352" y="4507992"/>
            <a:ext cx="7818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Encoding, whitespace, document boundaries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41248" y="5093208"/>
            <a:ext cx="10149840" cy="530352"/>
          </a:xfrm>
          <a:prstGeom prst="roundRect">
            <a:avLst>
              <a:gd name="adj" fmla="val 20690"/>
            </a:avLst>
          </a:prstGeom>
          <a:solidFill>
            <a:srgbClr val="141B33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5221224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16352" y="5221224"/>
            <a:ext cx="7818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/ validation / test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41248" y="6080760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Also verify licenses, privacy constraints, and your right to use the corpus for training.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FROM SCRATCH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 Step 2 — train a tokenizer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527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Tokenizer training happens before model training.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331720"/>
            <a:ext cx="10835640" cy="804672"/>
          </a:xfrm>
          <a:prstGeom prst="roundRect">
            <a:avLst>
              <a:gd name="adj" fmla="val 13636"/>
            </a:avLst>
          </a:prstGeom>
          <a:solidFill>
            <a:srgbClr val="141B33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8775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corpus  →  tokenizer trainer  →  vocabulary + merges/model  →  encode every document to token IDs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365760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configuration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41248" y="4206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Vocabulary size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46120" y="42062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16k–32k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46360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Special tokens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46120" y="463600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&lt;bos&gt;, &lt;eos&gt;, &lt;pad&gt;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41248" y="506577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46120" y="5065776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BPE or SentencePiece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" y="5495544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46120" y="549554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Decide Unicode / byte behavior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29400" y="3657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Sanity checks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720840" y="4160520"/>
            <a:ext cx="429768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81610" indent="-181610">
              <a:buSzPct val="100000"/>
              <a:buChar char="•"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text should not explode into too many tokens</a:t>
            </a:r>
            <a:endParaRPr lang="en-US" sz="1300" dirty="0"/>
          </a:p>
          <a:p>
            <a:pPr marL="181610" indent="-181610">
              <a:buSzPct val="100000"/>
              <a:buChar char="•"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Rare words should decompose gracefully</a:t>
            </a:r>
            <a:endParaRPr lang="en-US" sz="1300" dirty="0"/>
          </a:p>
          <a:p>
            <a:pPr marL="181610" indent="-181610">
              <a:buSzPct val="100000"/>
              <a:buChar char="•"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Multilingual samples should tokenize sensibly</a:t>
            </a:r>
            <a:endParaRPr lang="en-US" sz="1300" dirty="0"/>
          </a:p>
          <a:p>
            <a:pPr marL="181610" indent="-181610">
              <a:buSzPct val="100000"/>
              <a:buChar char="•"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Round-trip decode should reproduce text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FROM SCRATCH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13. Step 3 — choose model size and hyperparameters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527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the first model small enough that you can iterate quickly.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2331720"/>
            <a:ext cx="3246120" cy="438912"/>
          </a:xfrm>
          <a:prstGeom prst="roundRect">
            <a:avLst>
              <a:gd name="adj" fmla="val 25000"/>
            </a:avLst>
          </a:prstGeom>
          <a:solidFill>
            <a:srgbClr val="141B33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2450592"/>
            <a:ext cx="3136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Setting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69080" y="2331720"/>
            <a:ext cx="2651760" cy="438912"/>
          </a:xfrm>
          <a:prstGeom prst="roundRect">
            <a:avLst>
              <a:gd name="adj" fmla="val 25000"/>
            </a:avLst>
          </a:prstGeom>
          <a:solidFill>
            <a:srgbClr val="141B33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23944" y="2450592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Tiny demo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0" y="2331720"/>
            <a:ext cx="4553712" cy="438912"/>
          </a:xfrm>
          <a:prstGeom prst="roundRect">
            <a:avLst>
              <a:gd name="adj" fmla="val 25000"/>
            </a:avLst>
          </a:prstGeom>
          <a:solidFill>
            <a:srgbClr val="141B33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12864" y="2450592"/>
            <a:ext cx="44439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serious experiment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" y="2816352"/>
            <a:ext cx="3246120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916936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69080" y="2816352"/>
            <a:ext cx="2651760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291693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0" y="2816352"/>
            <a:ext cx="4553712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03720" y="2916936"/>
            <a:ext cx="4462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3232" y="3255264"/>
            <a:ext cx="3246120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335584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d_model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069080" y="3255264"/>
            <a:ext cx="2651760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0" y="335584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0" y="3255264"/>
            <a:ext cx="4553712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3355848"/>
            <a:ext cx="4462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768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13232" y="3694176"/>
            <a:ext cx="3246120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" y="3794760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 heads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069080" y="3694176"/>
            <a:ext cx="2651760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0" y="3794760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858000" y="3694176"/>
            <a:ext cx="4553712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03720" y="3794760"/>
            <a:ext cx="4462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713232" y="4133088"/>
            <a:ext cx="3246120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8952" y="4233672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length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069080" y="4133088"/>
            <a:ext cx="2651760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0" y="4233672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512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58000" y="4133088"/>
            <a:ext cx="4553712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4233672"/>
            <a:ext cx="4462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1024–2048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13232" y="4572000"/>
            <a:ext cx="3246120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4672584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069080" y="4572000"/>
            <a:ext cx="2651760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0" y="46725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858000" y="4572000"/>
            <a:ext cx="4553712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03720" y="4672584"/>
            <a:ext cx="4462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32k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713232" y="5010912"/>
            <a:ext cx="3246120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8952" y="5111496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069080" y="5010912"/>
            <a:ext cx="2651760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0" y="511149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~10–30M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858000" y="5010912"/>
            <a:ext cx="4553712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03720" y="5111496"/>
            <a:ext cx="4462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~100M+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13232" y="5449824"/>
            <a:ext cx="3246120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8952" y="5550408"/>
            <a:ext cx="3154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069080" y="5449824"/>
            <a:ext cx="2651760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0" y="555040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FP32/BF16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858000" y="5449824"/>
            <a:ext cx="4553712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903720" y="5550408"/>
            <a:ext cx="4462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BF16/FP16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13232" y="605332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small, make the pipeline correct, then scale.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FROM SCRATCH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 Step 4 — build the training sequences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527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corpus becomes many fixed-length examples for causal language modeling.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2304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Encoded document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1792" y="2743200"/>
            <a:ext cx="713232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28529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63624" y="2743200"/>
            <a:ext cx="713232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00200" y="28529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812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05456" y="2743200"/>
            <a:ext cx="713232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28529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47288" y="2743200"/>
            <a:ext cx="713232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83864" y="28529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89120" y="2743200"/>
            <a:ext cx="713232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25696" y="28529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330952" y="2743200"/>
            <a:ext cx="713232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67528" y="28529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72784" y="2743200"/>
            <a:ext cx="713232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28529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214616" y="2743200"/>
            <a:ext cx="713232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51192" y="285292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3657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 to context length = 6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21792" y="4160520"/>
            <a:ext cx="713232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" y="42702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563624" y="4160520"/>
            <a:ext cx="713232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00200" y="42702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812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505456" y="4160520"/>
            <a:ext cx="713232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42032" y="42702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447288" y="4160520"/>
            <a:ext cx="713232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83864" y="42702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389120" y="4160520"/>
            <a:ext cx="713232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25696" y="42702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330952" y="4160520"/>
            <a:ext cx="713232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367528" y="42702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63640" y="4233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29400" y="42245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shifted 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" y="4846320"/>
            <a:ext cx="713232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" y="49560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91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563624" y="4846320"/>
            <a:ext cx="713232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00200" y="49560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505456" y="4846320"/>
            <a:ext cx="713232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42032" y="49560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447288" y="4846320"/>
            <a:ext cx="713232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83864" y="49560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761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389120" y="4846320"/>
            <a:ext cx="713232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25696" y="49560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77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330952" y="4846320"/>
            <a:ext cx="713232" cy="402336"/>
          </a:xfrm>
          <a:prstGeom prst="roundRect">
            <a:avLst>
              <a:gd name="adj" fmla="val 27273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367528" y="495604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263640" y="49194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629400" y="4910328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shifted y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66928" y="59893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every position, target y is simply the next token.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FROM SCRATCH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 Step 5 — optimize the model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527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optimizer follows gradients that reduce cross-entropy loss.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13232" y="2286000"/>
            <a:ext cx="4892040" cy="3246120"/>
          </a:xfrm>
          <a:prstGeom prst="roundRect">
            <a:avLst>
              <a:gd name="adj" fmla="val 3380"/>
            </a:avLst>
          </a:prstGeom>
          <a:solidFill>
            <a:srgbClr val="141B33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578608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training ingredients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24128" y="3154680"/>
            <a:ext cx="411480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AdamW optimizer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Learning-rate warmup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Cosine or linear decay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clipping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Mixed precision (BF16/FP16)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accumulation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2286000"/>
            <a:ext cx="5074920" cy="3246120"/>
          </a:xfrm>
          <a:prstGeom prst="roundRect">
            <a:avLst>
              <a:gd name="adj" fmla="val 3380"/>
            </a:avLst>
          </a:prstGeom>
          <a:solidFill>
            <a:srgbClr val="141B33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5786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continuously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720840" y="3154680"/>
            <a:ext cx="4160520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loss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loss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rate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Tokens/second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 utilization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Gradient norm</a:t>
            </a:r>
            <a:endParaRPr lang="en-US" sz="1400" dirty="0"/>
          </a:p>
          <a:p>
            <a:pPr marL="195580" indent="-195580">
              <a:buSzPct val="100000"/>
              <a:buChar char="•"/>
            </a:pPr>
            <a:r>
              <a:rPr lang="en-US" sz="14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Checkpoint quality via sample generations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16. Step 6 — distributed training when one GPU is not enough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527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Scaling adds systems problems: memory, communication, and checkpoint complexity.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" y="24963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B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parallelism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95528" y="298094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Replica per GPU; split batches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73368" y="2286000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01968" y="24963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B7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Tensor parallelism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01968" y="298094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matrix operations across GPUs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4005072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42153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parallelism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95528" y="470001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Split layers across devices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73368" y="4005072"/>
            <a:ext cx="5349240" cy="1371600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01968" y="421538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FD1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FSDP / ZeRO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601968" y="4700016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Shard parameters, gradients, optimizer state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66928" y="60807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your first scratch model, avoid distributed complexity unless memory forces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POST-TRAINING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17. Step 7 — instruction tuning turns a base model into an assistant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527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Pretraining teaches continuation; supervised fine-tuning teaches desired response behavior.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286000"/>
            <a:ext cx="4617720" cy="1207008"/>
          </a:xfrm>
          <a:prstGeom prst="roundRect">
            <a:avLst>
              <a:gd name="adj" fmla="val 9091"/>
            </a:avLst>
          </a:prstGeom>
          <a:solidFill>
            <a:srgbClr val="141B33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54203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model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“Explain TCP” → continues text statistically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349240" y="276148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 SFT on prompt/response examples 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01000" y="2286000"/>
            <a:ext cx="3383280" cy="1207008"/>
          </a:xfrm>
          <a:prstGeom prst="roundRect">
            <a:avLst>
              <a:gd name="adj" fmla="val 9091"/>
            </a:avLst>
          </a:prstGeom>
          <a:solidFill>
            <a:srgbClr val="141B33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11312" y="254203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D1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Assistant model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11312" y="29718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Follows instructions and formats answers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" y="40416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training sample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58368" y="4498848"/>
            <a:ext cx="10744200" cy="1170432"/>
          </a:xfrm>
          <a:prstGeom prst="roundRect">
            <a:avLst>
              <a:gd name="adj" fmla="val 9375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4736592"/>
            <a:ext cx="10287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USER: Explain mutex vs semaphore in simple terms.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5F7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ASSISTANT: A mutex protects exclusive ownership of a resource, while a semaphore represents a count of permits…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POST-TRAINING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18. Step 8 — preference alignment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527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assistant training often adds preference optimization after supervised fine-tuning.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49808" y="2359152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29968" y="2194560"/>
            <a:ext cx="8092440" cy="603504"/>
          </a:xfrm>
          <a:prstGeom prst="roundRect">
            <a:avLst>
              <a:gd name="adj" fmla="val 18182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0280" y="23591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Give a safe and accurate answer to the user.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60120" y="3383280"/>
            <a:ext cx="4480560" cy="1371600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6393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5B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88720" y="4114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Accurate, concise, follows instruction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0" y="3383280"/>
            <a:ext cx="4480560" cy="1371600"/>
          </a:xfrm>
          <a:prstGeom prst="roundRect">
            <a:avLst>
              <a:gd name="adj" fmla="val 8000"/>
            </a:avLst>
          </a:prstGeom>
          <a:solidFill>
            <a:srgbClr val="141B33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36393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Response B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812280" y="41148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Verbose, less relevant, or unsafe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023360" y="5257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D1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Preference data says A &gt; B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49808" y="589788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Methods include reward-model/RLHF pipelines and direct preference optimization variants.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19. Step 9 — evaluate before you trust the model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527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alone is not enough. Evaluate capabilities, failure modes, and behavior.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2286000"/>
            <a:ext cx="3474720" cy="1353312"/>
          </a:xfrm>
          <a:prstGeom prst="roundRect">
            <a:avLst>
              <a:gd name="adj" fmla="val 8108"/>
            </a:avLst>
          </a:prstGeom>
          <a:solidFill>
            <a:srgbClr val="141B33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B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Language quality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30175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Perplexity, held-out loss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34840" y="2286000"/>
            <a:ext cx="3474720" cy="1353312"/>
          </a:xfrm>
          <a:prstGeom prst="roundRect">
            <a:avLst>
              <a:gd name="adj" fmla="val 8108"/>
            </a:avLst>
          </a:prstGeom>
          <a:solidFill>
            <a:srgbClr val="141B33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772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B7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ability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17720" y="30175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QA, code, reasoning benchmarks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275320" y="2286000"/>
            <a:ext cx="3474720" cy="1353312"/>
          </a:xfrm>
          <a:prstGeom prst="roundRect">
            <a:avLst>
              <a:gd name="adj" fmla="val 8108"/>
            </a:avLst>
          </a:prstGeom>
          <a:solidFill>
            <a:srgbClr val="141B33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Domain accuracy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458200" y="30175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private test set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4114800"/>
            <a:ext cx="3474720" cy="1353312"/>
          </a:xfrm>
          <a:prstGeom prst="roundRect">
            <a:avLst>
              <a:gd name="adj" fmla="val 8108"/>
            </a:avLst>
          </a:prstGeom>
          <a:solidFill>
            <a:srgbClr val="141B33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4343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77240" y="48463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Red-team prompts, refusal behavior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434840" y="4114800"/>
            <a:ext cx="3474720" cy="1353312"/>
          </a:xfrm>
          <a:prstGeom prst="roundRect">
            <a:avLst>
              <a:gd name="adj" fmla="val 8108"/>
            </a:avLst>
          </a:prstGeom>
          <a:solidFill>
            <a:srgbClr val="141B33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17720" y="4343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FD1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 &amp; cost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17720" y="48463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Tokens/sec, memory, batch throughput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75320" y="4114800"/>
            <a:ext cx="3474720" cy="1353312"/>
          </a:xfrm>
          <a:prstGeom prst="roundRect">
            <a:avLst>
              <a:gd name="adj" fmla="val 8108"/>
            </a:avLst>
          </a:prstGeom>
          <a:solidFill>
            <a:srgbClr val="141B33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4343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58200" y="48463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checkpoints consistently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INFERENCE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20. Step 10 — inference: how your trained model answers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527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Generation is an autoregressive loop with a key/value cache for efficiency.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1792" y="2560320"/>
            <a:ext cx="1554480" cy="1298448"/>
          </a:xfrm>
          <a:prstGeom prst="roundRect">
            <a:avLst>
              <a:gd name="adj" fmla="val 8451"/>
            </a:avLst>
          </a:prstGeom>
          <a:solidFill>
            <a:srgbClr val="141B33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52144" y="274320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5B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3218688"/>
            <a:ext cx="13350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Tokenize prompt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194560" y="301752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2432304" y="2560320"/>
            <a:ext cx="1554480" cy="1298448"/>
          </a:xfrm>
          <a:prstGeom prst="roundRect">
            <a:avLst>
              <a:gd name="adj" fmla="val 8451"/>
            </a:avLst>
          </a:prstGeom>
          <a:solidFill>
            <a:srgbClr val="141B33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62656" y="274320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9B7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542032" y="3218688"/>
            <a:ext cx="13350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Transformer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05072" y="301752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4242816" y="2560320"/>
            <a:ext cx="1554480" cy="1298448"/>
          </a:xfrm>
          <a:prstGeom prst="roundRect">
            <a:avLst>
              <a:gd name="adj" fmla="val 8451"/>
            </a:avLst>
          </a:prstGeom>
          <a:solidFill>
            <a:srgbClr val="141B33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274320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352544" y="3218688"/>
            <a:ext cx="13350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next-token logits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815584" y="301752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6053328" y="2560320"/>
            <a:ext cx="1554480" cy="1298448"/>
          </a:xfrm>
          <a:prstGeom prst="roundRect">
            <a:avLst>
              <a:gd name="adj" fmla="val 8451"/>
            </a:avLst>
          </a:prstGeom>
          <a:solidFill>
            <a:srgbClr val="141B33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274320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163056" y="3218688"/>
            <a:ext cx="13350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sampling rule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26096" y="301752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7863840" y="2560320"/>
            <a:ext cx="1554480" cy="1298448"/>
          </a:xfrm>
          <a:prstGeom prst="roundRect">
            <a:avLst>
              <a:gd name="adj" fmla="val 8451"/>
            </a:avLst>
          </a:prstGeom>
          <a:solidFill>
            <a:srgbClr val="141B33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94192" y="274320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4FD1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7973568" y="3218688"/>
            <a:ext cx="13350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 token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436608" y="3017520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25" name="Shape 23"/>
          <p:cNvSpPr/>
          <p:nvPr/>
        </p:nvSpPr>
        <p:spPr>
          <a:xfrm>
            <a:off x="9674352" y="2560320"/>
            <a:ext cx="1554480" cy="1298448"/>
          </a:xfrm>
          <a:prstGeom prst="roundRect">
            <a:avLst>
              <a:gd name="adj" fmla="val 8451"/>
            </a:avLst>
          </a:prstGeom>
          <a:solidFill>
            <a:srgbClr val="141B33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04704" y="2743200"/>
            <a:ext cx="493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784080" y="3218688"/>
            <a:ext cx="1335024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 until stop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1792" y="44074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knobs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31520" y="4873752"/>
            <a:ext cx="39319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81610" indent="-181610">
              <a:buSzPct val="100000"/>
              <a:buChar char="•"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temperature</a:t>
            </a:r>
            <a:endParaRPr lang="en-US" sz="1300" dirty="0"/>
          </a:p>
          <a:p>
            <a:pPr marL="181610" indent="-181610">
              <a:buSzPct val="100000"/>
              <a:buChar char="•"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top-k / top-p</a:t>
            </a:r>
            <a:endParaRPr lang="en-US" sz="1300" dirty="0"/>
          </a:p>
          <a:p>
            <a:pPr marL="181610" indent="-181610">
              <a:buSzPct val="100000"/>
              <a:buChar char="•"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repetition penalties</a:t>
            </a:r>
            <a:endParaRPr lang="en-US" sz="1300" dirty="0"/>
          </a:p>
          <a:p>
            <a:pPr marL="181610" indent="-181610">
              <a:buSzPct val="100000"/>
              <a:buChar char="•"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tokens / stop tokens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72200" y="4407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KV cache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72200" y="4892040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Caches attention keys/values for previous tokens so the model avoids recomputing the full history at every generation step.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21. Minimal scratch implementation: modules you need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527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 GPT can be built from surprisingly few conceptual components.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2286000"/>
            <a:ext cx="2578608" cy="1353312"/>
          </a:xfrm>
          <a:prstGeom prst="roundRect">
            <a:avLst>
              <a:gd name="adj" fmla="val 8108"/>
            </a:avLst>
          </a:prstGeom>
          <a:solidFill>
            <a:srgbClr val="141B33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252374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Tokenizer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301752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encode / decode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65576" y="2286000"/>
            <a:ext cx="2578608" cy="1353312"/>
          </a:xfrm>
          <a:prstGeom prst="roundRect">
            <a:avLst>
              <a:gd name="adj" fmla="val 8108"/>
            </a:avLst>
          </a:prstGeom>
          <a:solidFill>
            <a:srgbClr val="141B33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02736" y="252374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B7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48456" y="301752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chunks + shifted targets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64224" y="2286000"/>
            <a:ext cx="2578608" cy="1353312"/>
          </a:xfrm>
          <a:prstGeom prst="roundRect">
            <a:avLst>
              <a:gd name="adj" fmla="val 8108"/>
            </a:avLst>
          </a:prstGeom>
          <a:solidFill>
            <a:srgbClr val="141B33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01384" y="252374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47104" y="301752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+ position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262872" y="2286000"/>
            <a:ext cx="2578608" cy="1353312"/>
          </a:xfrm>
          <a:prstGeom prst="roundRect">
            <a:avLst>
              <a:gd name="adj" fmla="val 8108"/>
            </a:avLst>
          </a:prstGeom>
          <a:solidFill>
            <a:srgbClr val="141B33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00032" y="2523744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Attention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445752" y="3017520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causal multi-head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" y="4041648"/>
            <a:ext cx="2578608" cy="1353312"/>
          </a:xfrm>
          <a:prstGeom prst="roundRect">
            <a:avLst>
              <a:gd name="adj" fmla="val 8108"/>
            </a:avLst>
          </a:prstGeom>
          <a:solidFill>
            <a:srgbClr val="141B33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427939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9808" y="477316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 → activation → project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65576" y="4041648"/>
            <a:ext cx="2578608" cy="1353312"/>
          </a:xfrm>
          <a:prstGeom prst="roundRect">
            <a:avLst>
              <a:gd name="adj" fmla="val 8108"/>
            </a:avLst>
          </a:prstGeom>
          <a:solidFill>
            <a:srgbClr val="141B33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02736" y="427939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648456" y="477316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LN + attention + residual + MLP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64224" y="4041648"/>
            <a:ext cx="2578608" cy="1353312"/>
          </a:xfrm>
          <a:prstGeom prst="roundRect">
            <a:avLst>
              <a:gd name="adj" fmla="val 8108"/>
            </a:avLst>
          </a:prstGeom>
          <a:solidFill>
            <a:srgbClr val="141B33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01384" y="427939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B7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GPT model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547104" y="477316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 blocks + LM head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262872" y="4041648"/>
            <a:ext cx="2578608" cy="1353312"/>
          </a:xfrm>
          <a:prstGeom prst="roundRect">
            <a:avLst>
              <a:gd name="adj" fmla="val 8108"/>
            </a:avLst>
          </a:prstGeom>
          <a:solidFill>
            <a:srgbClr val="141B33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00032" y="4279392"/>
            <a:ext cx="2304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Trainer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445752" y="4773168"/>
            <a:ext cx="2212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loss + backprop + optimizer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" y="6016752"/>
            <a:ext cx="10789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in PyTorch first; later reproduce inference or kernels in Go/Rust/CUDA if that is your systems goal.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PROJECT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22. A practical first project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527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a small GPT on a curated corpus, then inspect what it learns.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8368" y="2240280"/>
            <a:ext cx="10835640" cy="768096"/>
          </a:xfrm>
          <a:prstGeom prst="roundRect">
            <a:avLst>
              <a:gd name="adj" fmla="val 14286"/>
            </a:avLst>
          </a:prstGeom>
          <a:solidFill>
            <a:srgbClr val="141B33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48716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20–50M parameter GPT trained on technical articles or another licensed corpus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401568"/>
            <a:ext cx="384048" cy="310896"/>
          </a:xfrm>
          <a:prstGeom prst="roundRect">
            <a:avLst>
              <a:gd name="adj" fmla="val 35294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346557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389888" y="342900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100M–1B tokens if available; smaller is fine for a learning run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840480"/>
            <a:ext cx="384048" cy="310896"/>
          </a:xfrm>
          <a:prstGeom prst="roundRect">
            <a:avLst>
              <a:gd name="adj" fmla="val 35294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3904488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89888" y="3867912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a 16k tokenizer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279392"/>
            <a:ext cx="384048" cy="310896"/>
          </a:xfrm>
          <a:prstGeom prst="roundRect">
            <a:avLst>
              <a:gd name="adj" fmla="val 35294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34340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389888" y="4306824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context length 512 or 1024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718304"/>
            <a:ext cx="384048" cy="310896"/>
          </a:xfrm>
          <a:prstGeom prst="roundRect">
            <a:avLst>
              <a:gd name="adj" fmla="val 35294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4782312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389888" y="474573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 until validation loss stops improving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5157216"/>
            <a:ext cx="384048" cy="310896"/>
          </a:xfrm>
          <a:prstGeom prst="roundRect">
            <a:avLst>
              <a:gd name="adj" fmla="val 35294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" y="5221224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389888" y="5184648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checkpoints and generate fixed prompts each epoch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5596128"/>
            <a:ext cx="384048" cy="310896"/>
          </a:xfrm>
          <a:prstGeom prst="roundRect">
            <a:avLst>
              <a:gd name="adj" fmla="val 35294"/>
            </a:avLst>
          </a:prstGeom>
          <a:solidFill>
            <a:srgbClr val="10172B"/>
          </a:solidFill>
          <a:ln w="12700">
            <a:solidFill>
              <a:srgbClr val="25304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5660136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89888" y="5623560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instruction-tune on a small high-quality Q&amp;A dataset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CONSTRAINTS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23. Compute reality: scratch training is expensive at scale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527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learning path scales smoothly; the economics do not.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1792" y="2286000"/>
            <a:ext cx="3337560" cy="3017520"/>
          </a:xfrm>
          <a:prstGeom prst="roundRect">
            <a:avLst>
              <a:gd name="adj" fmla="val 3636"/>
            </a:avLst>
          </a:prstGeom>
          <a:solidFill>
            <a:srgbClr val="141B33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542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FD1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Laptop / single GPU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77824" y="3136392"/>
            <a:ext cx="274320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81610" indent="-181610">
              <a:buSzPct val="100000"/>
              <a:buChar char="•"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Toy models</a:t>
            </a:r>
            <a:endParaRPr lang="en-US" sz="1300" dirty="0"/>
          </a:p>
          <a:p>
            <a:pPr marL="181610" indent="-181610">
              <a:buSzPct val="100000"/>
              <a:buChar char="•"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Character/token experiments</a:t>
            </a:r>
            <a:endParaRPr lang="en-US" sz="1300" dirty="0"/>
          </a:p>
          <a:p>
            <a:pPr marL="181610" indent="-181610">
              <a:buSzPct val="100000"/>
              <a:buChar char="•"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Fine-tuning small models</a:t>
            </a:r>
            <a:endParaRPr lang="en-US" sz="1300" dirty="0"/>
          </a:p>
          <a:p>
            <a:pPr marL="181610" indent="-181610">
              <a:buSzPct val="100000"/>
              <a:buChar char="•"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Excellent for learning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61688" y="2286000"/>
            <a:ext cx="3337560" cy="3017520"/>
          </a:xfrm>
          <a:prstGeom prst="roundRect">
            <a:avLst>
              <a:gd name="adj" fmla="val 3636"/>
            </a:avLst>
          </a:prstGeom>
          <a:solidFill>
            <a:srgbClr val="141B33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62856" y="2542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Workstation / few GPUs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7720" y="3136392"/>
            <a:ext cx="274320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81610" indent="-181610">
              <a:buSzPct val="100000"/>
              <a:buChar char="•"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Tens–hundreds of millions params</a:t>
            </a:r>
            <a:endParaRPr lang="en-US" sz="1300" dirty="0"/>
          </a:p>
          <a:p>
            <a:pPr marL="181610" indent="-181610">
              <a:buSzPct val="100000"/>
              <a:buChar char="•"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Longer training runs</a:t>
            </a:r>
            <a:endParaRPr lang="en-US" sz="1300" dirty="0"/>
          </a:p>
          <a:p>
            <a:pPr marL="181610" indent="-181610">
              <a:buSzPct val="100000"/>
              <a:buChar char="•"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LoRA/QLoRA comfortably</a:t>
            </a:r>
            <a:endParaRPr lang="en-US" sz="1300" dirty="0"/>
          </a:p>
          <a:p>
            <a:pPr marL="181610" indent="-181610">
              <a:buSzPct val="100000"/>
              <a:buChar char="•"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Careful memory engineering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01584" y="2286000"/>
            <a:ext cx="3337560" cy="3017520"/>
          </a:xfrm>
          <a:prstGeom prst="roundRect">
            <a:avLst>
              <a:gd name="adj" fmla="val 3636"/>
            </a:avLst>
          </a:prstGeom>
          <a:solidFill>
            <a:srgbClr val="141B33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02752" y="254203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foundation model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57616" y="3136392"/>
            <a:ext cx="274320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81610" indent="-181610">
              <a:buSzPct val="100000"/>
              <a:buChar char="•"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Massive datasets</a:t>
            </a:r>
            <a:endParaRPr lang="en-US" sz="1300" dirty="0"/>
          </a:p>
          <a:p>
            <a:pPr marL="181610" indent="-181610">
              <a:buSzPct val="100000"/>
              <a:buChar char="•"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Distributed clusters</a:t>
            </a:r>
            <a:endParaRPr lang="en-US" sz="1300" dirty="0"/>
          </a:p>
          <a:p>
            <a:pPr marL="181610" indent="-181610">
              <a:buSzPct val="100000"/>
              <a:buChar char="•"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Complex parallelism</a:t>
            </a:r>
            <a:endParaRPr lang="en-US" sz="1300" dirty="0"/>
          </a:p>
          <a:p>
            <a:pPr marL="181610" indent="-181610">
              <a:buSzPct val="100000"/>
              <a:buChar char="•"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 operational cost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" y="5815584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useful domain systems, start from an open pretrained model unless training the base model is itself the research objective.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926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30352" y="56692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24. The entire pipeline in one view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252728"/>
            <a:ext cx="10789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the end-to-end lifecycle of your own decoder-only LLM.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0352" y="2514600"/>
            <a:ext cx="1901952" cy="868680"/>
          </a:xfrm>
          <a:prstGeom prst="roundRect">
            <a:avLst>
              <a:gd name="adj" fmla="val 12632"/>
            </a:avLst>
          </a:prstGeom>
          <a:solidFill>
            <a:srgbClr val="141B33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276148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text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450592" y="280720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834640" y="2514600"/>
            <a:ext cx="1901952" cy="868680"/>
          </a:xfrm>
          <a:prstGeom prst="roundRect">
            <a:avLst>
              <a:gd name="adj" fmla="val 12632"/>
            </a:avLst>
          </a:prstGeom>
          <a:solidFill>
            <a:srgbClr val="141B33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276148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 corpus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280720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138928" y="2514600"/>
            <a:ext cx="1901952" cy="868680"/>
          </a:xfrm>
          <a:prstGeom prst="roundRect">
            <a:avLst>
              <a:gd name="adj" fmla="val 12632"/>
            </a:avLst>
          </a:prstGeom>
          <a:solidFill>
            <a:srgbClr val="141B33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30368" y="276148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Tokenizer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59168" y="280720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7443216" y="2514600"/>
            <a:ext cx="1901952" cy="868680"/>
          </a:xfrm>
          <a:prstGeom prst="roundRect">
            <a:avLst>
              <a:gd name="adj" fmla="val 12632"/>
            </a:avLst>
          </a:prstGeom>
          <a:solidFill>
            <a:srgbClr val="141B33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34656" y="276148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 IDs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63456" y="2807208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9747504" y="2514600"/>
            <a:ext cx="1901952" cy="868680"/>
          </a:xfrm>
          <a:prstGeom prst="roundRect">
            <a:avLst>
              <a:gd name="adj" fmla="val 12632"/>
            </a:avLst>
          </a:prstGeom>
          <a:solidFill>
            <a:srgbClr val="141B33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38944" y="2761488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Pretrain GPT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24744" y="3447288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↓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30352" y="4178808"/>
            <a:ext cx="1901952" cy="868680"/>
          </a:xfrm>
          <a:prstGeom prst="roundRect">
            <a:avLst>
              <a:gd name="adj" fmla="val 12632"/>
            </a:avLst>
          </a:prstGeom>
          <a:solidFill>
            <a:srgbClr val="141B33"/>
          </a:solidFill>
          <a:ln w="12700">
            <a:solidFill>
              <a:srgbClr val="5B8C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442569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model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450592" y="447141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2834640" y="4178808"/>
            <a:ext cx="1901952" cy="868680"/>
          </a:xfrm>
          <a:prstGeom prst="roundRect">
            <a:avLst>
              <a:gd name="adj" fmla="val 12632"/>
            </a:avLst>
          </a:prstGeom>
          <a:solidFill>
            <a:srgbClr val="141B33"/>
          </a:solidFill>
          <a:ln w="12700">
            <a:solidFill>
              <a:srgbClr val="9B7B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442569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 tune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447141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5138928" y="4178808"/>
            <a:ext cx="1901952" cy="868680"/>
          </a:xfrm>
          <a:prstGeom prst="roundRect">
            <a:avLst>
              <a:gd name="adj" fmla="val 12632"/>
            </a:avLst>
          </a:prstGeom>
          <a:solidFill>
            <a:srgbClr val="141B33"/>
          </a:solidFill>
          <a:ln w="12700">
            <a:solidFill>
              <a:srgbClr val="4DD0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30368" y="442569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Preference align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59168" y="447141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29" name="Shape 27"/>
          <p:cNvSpPr/>
          <p:nvPr/>
        </p:nvSpPr>
        <p:spPr>
          <a:xfrm>
            <a:off x="7443216" y="4178808"/>
            <a:ext cx="1901952" cy="868680"/>
          </a:xfrm>
          <a:prstGeom prst="roundRect">
            <a:avLst>
              <a:gd name="adj" fmla="val 12632"/>
            </a:avLst>
          </a:prstGeom>
          <a:solidFill>
            <a:srgbClr val="141B33"/>
          </a:solidFill>
          <a:ln w="12700">
            <a:solidFill>
              <a:srgbClr val="4FD1A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34656" y="442569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363456" y="4471416"/>
            <a:ext cx="292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900" dirty="0"/>
          </a:p>
        </p:txBody>
      </p:sp>
      <p:sp>
        <p:nvSpPr>
          <p:cNvPr id="32" name="Shape 30"/>
          <p:cNvSpPr/>
          <p:nvPr/>
        </p:nvSpPr>
        <p:spPr>
          <a:xfrm>
            <a:off x="9747504" y="4178808"/>
            <a:ext cx="1901952" cy="868680"/>
          </a:xfrm>
          <a:prstGeom prst="roundRect">
            <a:avLst>
              <a:gd name="adj" fmla="val 12632"/>
            </a:avLst>
          </a:prstGeom>
          <a:solidFill>
            <a:srgbClr val="141B33"/>
          </a:solidFill>
          <a:ln w="12700">
            <a:solidFill>
              <a:srgbClr val="FF6B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38944" y="4425696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58368" y="598932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mental model: GPT learns parameters that transform token context into a probability distribution over the next token.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446520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D789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960120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to go next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76656" y="1737360"/>
            <a:ext cx="10424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DD0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the first tiny GPT, then scale one dimension at a time.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560320" y="27432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 a minimal GPT training project in PyTorch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36499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560320" y="336499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 memory, kernels, KV cache, quantization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9867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Fine-tuning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560320" y="3986784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LoRA/QLoRA a pretrained open model on your domain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60857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560320" y="4608576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Batching, streaming, vLLM-style inference concepts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52303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B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60320" y="523036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F5F7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your own domain benchmark and regression suite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" y="6099048"/>
            <a:ext cx="10698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320272" y="642823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A9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GPT Works — Train Your Own LLM Step by Step</dc:title>
  <dc:subject>How GPT Works and How to Train Your Own LLM</dc:subject>
  <dc:creator>OpenAI</dc:creator>
  <cp:lastModifiedBy>OpenAI</cp:lastModifiedBy>
  <cp:revision>1</cp:revision>
  <dcterms:created xsi:type="dcterms:W3CDTF">2026-08-14T05:07:00Z</dcterms:created>
  <dcterms:modified xsi:type="dcterms:W3CDTF">2026-08-14T05:07:00Z</dcterms:modified>
</cp:coreProperties>
</file>